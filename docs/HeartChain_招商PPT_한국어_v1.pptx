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356122"/>
            <a:ext cx="762000" cy="5075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648123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E A R T C H A I 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26669" y="2387798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 트 체 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6669" y="2714774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区块链志愿服务平台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6669" y="3340150"/>
            <a:ext cx="8290661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선의를 기록하고, 모든 기여에 보답을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+ 블록체인 기반 자원봉사 플랫폼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91440" y="4807000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 Foundation |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286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228600"/>
            <a:ext cx="4154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문제점 MARKET PAIN POINTS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5550" y="685800"/>
            <a:ext cx="1993850" cy="1888034"/>
          </a:xfrm>
          <a:prstGeom prst="roundRect">
            <a:avLst>
              <a:gd name="adj" fmla="val 538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1126927"/>
            <a:ext cx="16517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2776" y="1799927"/>
            <a:ext cx="1651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어려움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2776" y="2066627"/>
            <a:ext cx="16517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자원봉사 활동 기록이 분산되어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통합적 평가가 불가능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01801" y="685800"/>
            <a:ext cx="1993999" cy="1888034"/>
          </a:xfrm>
          <a:prstGeom prst="roundRect">
            <a:avLst>
              <a:gd name="adj" fmla="val 538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89027" y="1126927"/>
            <a:ext cx="1651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89027" y="1799927"/>
            <a:ext cx="16519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 부재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89027" y="2066627"/>
            <a:ext cx="16519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 시간 기여에도 실제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경제적 보상이 전무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685800"/>
            <a:ext cx="1993850" cy="1888034"/>
          </a:xfrm>
          <a:prstGeom prst="roundRect">
            <a:avLst>
              <a:gd name="adj" fmla="val 538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5426" y="1126927"/>
            <a:ext cx="16517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35426" y="1799927"/>
            <a:ext cx="1651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문제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35426" y="2066627"/>
            <a:ext cx="16517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CSR 성과 검증 어렵고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기부금 사기 발생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94450" y="685800"/>
            <a:ext cx="1993999" cy="1888034"/>
          </a:xfrm>
          <a:prstGeom prst="roundRect">
            <a:avLst>
              <a:gd name="adj" fmla="val 538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1676" y="1126927"/>
            <a:ext cx="1651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81676" y="1799927"/>
            <a:ext cx="16519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국경 제한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81676" y="2066627"/>
            <a:ext cx="16519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자원봉사 인정 어려워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협력 장벽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5550" y="490701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4873675"/>
            <a:ext cx="4137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자원봉사자 10억 명 이상, 연간 10조 원 가치 창출 — 그러나 구조적 보상 체계 부재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01501"/>
            <a:ext cx="50750" cy="27935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02989"/>
            <a:ext cx="19054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550" y="520452"/>
            <a:ext cx="31349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하트체인 = 블록체인 + 점수 시스템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5550" y="774353"/>
            <a:ext cx="31349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区块链 + 志愿服务 + 积分体系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55550" y="1010543"/>
            <a:ext cx="3073450" cy="4723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74600" y="1010543"/>
            <a:ext cx="0" cy="472380"/>
          </a:xfrm>
          <a:prstGeom prst="line">
            <a:avLst/>
          </a:prstGeom>
          <a:noFill/>
          <a:ln w="38100">
            <a:solidFill>
              <a:srgbClr val="C85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151" y="1086743"/>
            <a:ext cx="28889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"모든 선의를 기록하고,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기여에 보답을"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5550" y="1533674"/>
            <a:ext cx="3134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× Points × Cross-Border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81400" y="1819424"/>
            <a:ext cx="5207050" cy="704552"/>
          </a:xfrm>
          <a:prstGeom prst="roundRect">
            <a:avLst>
              <a:gd name="adj" fmla="val 1081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79775" y="205740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84575" y="1892350"/>
            <a:ext cx="4799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변조 불가능 기록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84575" y="2057400"/>
            <a:ext cx="47996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블록체인에 활동 이력 영구 저장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81400" y="2574727"/>
            <a:ext cx="5207050" cy="704552"/>
          </a:xfrm>
          <a:prstGeom prst="roundRect">
            <a:avLst>
              <a:gd name="adj" fmla="val 1081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79775" y="281270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84575" y="2647652"/>
            <a:ext cx="4799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HRT 포인트 보상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84575" y="2812703"/>
            <a:ext cx="47996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기여도별 HRT 토큰 적립, 현금화 가능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81400" y="3330029"/>
            <a:ext cx="5207050" cy="704552"/>
          </a:xfrm>
          <a:prstGeom prst="roundRect">
            <a:avLst>
              <a:gd name="adj" fmla="val 1081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79775" y="3568005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84575" y="3402955"/>
            <a:ext cx="4799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국경 초월 인정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84575" y="3568005"/>
            <a:ext cx="47996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중·한·글로벌跨국志愿服务 인정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81400" y="4085332"/>
            <a:ext cx="5207050" cy="704552"/>
          </a:xfrm>
          <a:prstGeom prst="roundRect">
            <a:avLst>
              <a:gd name="adj" fmla="val 1081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79775" y="4323308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84575" y="4158258"/>
            <a:ext cx="4799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CSR 통합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84575" y="4323308"/>
            <a:ext cx="47996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기업ESG평가·세제 혜택과 직접 연계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524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52400"/>
            <a:ext cx="32862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CORE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558701"/>
            <a:ext cx="3049786" cy="840879"/>
          </a:xfrm>
          <a:prstGeom prst="roundRect">
            <a:avLst>
              <a:gd name="adj" fmla="val 1208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376" y="695176"/>
            <a:ext cx="381000" cy="164902"/>
          </a:xfrm>
          <a:prstGeom prst="roundRect">
            <a:avLst>
              <a:gd name="adj" fmla="val 3080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290" y="720477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2877" y="701427"/>
            <a:ext cx="1073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활동 기록 시스템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0376" y="923479"/>
            <a:ext cx="2832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참여·인증·기록까지 자동 연동, 블록체인 영구 저장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0376" y="1133029"/>
            <a:ext cx="473571" cy="130076"/>
          </a:xfrm>
          <a:prstGeom prst="roundRect">
            <a:avLst>
              <a:gd name="adj" fmla="val 2929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777" y="1145679"/>
            <a:ext cx="3537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 인증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02047" y="1133029"/>
            <a:ext cx="456754" cy="130076"/>
          </a:xfrm>
          <a:prstGeom prst="roundRect">
            <a:avLst>
              <a:gd name="adj" fmla="val 2929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5448" y="1145679"/>
            <a:ext cx="336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실명验证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405188" y="558701"/>
            <a:ext cx="3049786" cy="840879"/>
          </a:xfrm>
          <a:prstGeom prst="roundRect">
            <a:avLst>
              <a:gd name="adj" fmla="val 1208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1663" y="695176"/>
            <a:ext cx="381000" cy="164902"/>
          </a:xfrm>
          <a:prstGeom prst="roundRect">
            <a:avLst>
              <a:gd name="adj" fmla="val 3080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15577" y="720477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24164" y="701427"/>
            <a:ext cx="1196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HRT 포인트 시스템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41663" y="923479"/>
            <a:ext cx="2832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기여도 기반 코인 적립, 탈중앙화 교환소에서流通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41663" y="1133029"/>
            <a:ext cx="498277" cy="120551"/>
          </a:xfrm>
          <a:prstGeom prst="roundRect">
            <a:avLst>
              <a:gd name="adj" fmla="val 3160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5064" y="1145679"/>
            <a:ext cx="3789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HeartCoin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078039" y="1133029"/>
            <a:ext cx="301079" cy="120551"/>
          </a:xfrm>
          <a:prstGeom prst="roundRect">
            <a:avLst>
              <a:gd name="adj" fmla="val 3160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41440" y="1145679"/>
            <a:ext cx="1777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53901" y="1501080"/>
            <a:ext cx="3049786" cy="840879"/>
          </a:xfrm>
          <a:prstGeom prst="roundRect">
            <a:avLst>
              <a:gd name="adj" fmla="val 1208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376" y="1637556"/>
            <a:ext cx="381000" cy="164902"/>
          </a:xfrm>
          <a:prstGeom prst="roundRect">
            <a:avLst>
              <a:gd name="adj" fmla="val 3080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290" y="1662857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72877" y="1643807"/>
            <a:ext cx="691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태스크 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0376" y="1865858"/>
            <a:ext cx="2832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기업·단체 태스크 게시,志愿者 자동 매칭 플랫폼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0376" y="2075408"/>
            <a:ext cx="392757" cy="130076"/>
          </a:xfrm>
          <a:prstGeom prst="roundRect">
            <a:avLst>
              <a:gd name="adj" fmla="val 2929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3777" y="2088059"/>
            <a:ext cx="2712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매칭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21234" y="2075408"/>
            <a:ext cx="374303" cy="130076"/>
          </a:xfrm>
          <a:prstGeom prst="roundRect">
            <a:avLst>
              <a:gd name="adj" fmla="val 2929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4634" y="2088059"/>
            <a:ext cx="2524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405188" y="1501080"/>
            <a:ext cx="3049786" cy="840879"/>
          </a:xfrm>
          <a:prstGeom prst="roundRect">
            <a:avLst>
              <a:gd name="adj" fmla="val 1208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41663" y="1637556"/>
            <a:ext cx="381000" cy="164902"/>
          </a:xfrm>
          <a:prstGeom prst="roundRect">
            <a:avLst>
              <a:gd name="adj" fmla="val 3080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615577" y="1662857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24164" y="1643807"/>
            <a:ext cx="924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개인 대시보드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41663" y="1865858"/>
            <a:ext cx="2832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통계·보상 내역·ESG 점수一眼掌控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541663" y="2075408"/>
            <a:ext cx="644723" cy="130076"/>
          </a:xfrm>
          <a:prstGeom prst="roundRect">
            <a:avLst>
              <a:gd name="adj" fmla="val 2929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05064" y="2088059"/>
            <a:ext cx="5282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3901" y="2443460"/>
            <a:ext cx="3049786" cy="831354"/>
          </a:xfrm>
          <a:prstGeom prst="roundRect">
            <a:avLst>
              <a:gd name="adj" fmla="val 1222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0376" y="2579936"/>
            <a:ext cx="381000" cy="164902"/>
          </a:xfrm>
          <a:prstGeom prst="roundRect">
            <a:avLst>
              <a:gd name="adj" fmla="val 3080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4290" y="2605236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72877" y="2586186"/>
            <a:ext cx="969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기업 CSR 패널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0376" y="2808238"/>
            <a:ext cx="2832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기업용志愿者 관리 + ESG보고서 자동 생성 SaaS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90376" y="3017788"/>
            <a:ext cx="282773" cy="120551"/>
          </a:xfrm>
          <a:prstGeom prst="roundRect">
            <a:avLst>
              <a:gd name="adj" fmla="val 3160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53777" y="3030438"/>
            <a:ext cx="1590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11250" y="3017788"/>
            <a:ext cx="301079" cy="120551"/>
          </a:xfrm>
          <a:prstGeom prst="roundRect">
            <a:avLst>
              <a:gd name="adj" fmla="val 3160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74650" y="3030438"/>
            <a:ext cx="1777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405188" y="2443460"/>
            <a:ext cx="3049786" cy="831354"/>
          </a:xfrm>
          <a:prstGeom prst="roundRect">
            <a:avLst>
              <a:gd name="adj" fmla="val 1222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541663" y="2579936"/>
            <a:ext cx="381000" cy="164902"/>
          </a:xfrm>
          <a:prstGeom prst="roundRect">
            <a:avLst>
              <a:gd name="adj" fmla="val 3080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615577" y="2605236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24164" y="2586186"/>
            <a:ext cx="807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다국어 지원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541663" y="2808238"/>
            <a:ext cx="2832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简体中文 · 한국어 · English自動判別 지원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541663" y="3017788"/>
            <a:ext cx="282773" cy="120551"/>
          </a:xfrm>
          <a:prstGeom prst="roundRect">
            <a:avLst>
              <a:gd name="adj" fmla="val 3160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605064" y="3030438"/>
            <a:ext cx="1590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862536" y="3017788"/>
            <a:ext cx="365373" cy="120551"/>
          </a:xfrm>
          <a:prstGeom prst="roundRect">
            <a:avLst>
              <a:gd name="adj" fmla="val 3160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925937" y="3030438"/>
            <a:ext cx="2433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55550" y="3351014"/>
            <a:ext cx="16326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 · Web · Admin Dashboard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032397" y="3397002"/>
            <a:ext cx="6756053" cy="126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524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52400"/>
            <a:ext cx="54667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TECHNOLOGY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558701"/>
            <a:ext cx="2813298" cy="571202"/>
          </a:xfrm>
          <a:prstGeom prst="roundRect">
            <a:avLst>
              <a:gd name="adj" fmla="val 1334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0152" y="758577"/>
            <a:ext cx="27207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合规链 Substrate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3901" y="1206103"/>
            <a:ext cx="2813298" cy="1533079"/>
          </a:xfrm>
          <a:prstGeom prst="roundRect">
            <a:avLst>
              <a:gd name="adj" fmla="val 662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376" y="1317129"/>
            <a:ext cx="2591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🇨🇳中国市场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0376" y="1542455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合规优先 · 政府监管友好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0376" y="1818680"/>
            <a:ext cx="2540347" cy="65707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1376" y="1866305"/>
            <a:ext cx="22025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Framework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1376" y="2002780"/>
            <a:ext cx="2202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国家政策合规接入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71376" y="2186880"/>
            <a:ext cx="22025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实名认证 + 积分管控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71376" y="2351931"/>
            <a:ext cx="22025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人民币结算支持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68775" y="2076748"/>
            <a:ext cx="1606302" cy="552152"/>
          </a:xfrm>
          <a:prstGeom prst="roundRect">
            <a:avLst>
              <a:gd name="adj" fmla="val 18401"/>
            </a:avLst>
          </a:prstGeom>
          <a:solidFill>
            <a:srgbClr val="1A1A2E"/>
          </a:solidFill>
          <a:ln w="9525">
            <a:solidFill>
              <a:srgbClr val="C85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17875" y="2187773"/>
            <a:ext cx="13081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85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 双链架构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17875" y="2394049"/>
            <a:ext cx="13081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HRT 토큰 · 크로스체인 브릿지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40653" y="2705100"/>
            <a:ext cx="4623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8561" y="3244751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HeartCoin (HRT)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94149" y="3479602"/>
            <a:ext cx="418356" cy="145852"/>
          </a:xfrm>
          <a:prstGeom prst="roundRect">
            <a:avLst>
              <a:gd name="adj" fmla="val 261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70349" y="3504902"/>
            <a:ext cx="271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650605" y="3479602"/>
            <a:ext cx="386209" cy="145852"/>
          </a:xfrm>
          <a:prstGeom prst="roundRect">
            <a:avLst>
              <a:gd name="adj" fmla="val 261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26805" y="3504902"/>
            <a:ext cx="2384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074914" y="3479602"/>
            <a:ext cx="404515" cy="145852"/>
          </a:xfrm>
          <a:prstGeom prst="roundRect">
            <a:avLst>
              <a:gd name="adj" fmla="val 261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51114" y="3504902"/>
            <a:ext cx="2571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Nuxt.js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517529" y="3479602"/>
            <a:ext cx="601861" cy="145852"/>
          </a:xfrm>
          <a:prstGeom prst="roundRect">
            <a:avLst>
              <a:gd name="adj" fmla="val 261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93729" y="3504902"/>
            <a:ext cx="4584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157490" y="3479602"/>
            <a:ext cx="418356" cy="145852"/>
          </a:xfrm>
          <a:prstGeom prst="roundRect">
            <a:avLst>
              <a:gd name="adj" fmla="val 261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3690" y="3504902"/>
            <a:ext cx="271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13946" y="3479602"/>
            <a:ext cx="335756" cy="145852"/>
          </a:xfrm>
          <a:prstGeom prst="roundRect">
            <a:avLst>
              <a:gd name="adj" fmla="val 261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90146" y="3504902"/>
            <a:ext cx="1870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076652" y="558701"/>
            <a:ext cx="2813447" cy="571202"/>
          </a:xfrm>
          <a:prstGeom prst="roundRect">
            <a:avLst>
              <a:gd name="adj" fmla="val 1334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22902" y="758577"/>
            <a:ext cx="27209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公链 Polygon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76652" y="1206103"/>
            <a:ext cx="2813447" cy="1514029"/>
          </a:xfrm>
          <a:prstGeom prst="roundRect">
            <a:avLst>
              <a:gd name="adj" fmla="val 671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13128" y="1317129"/>
            <a:ext cx="2591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🌏韩国+国际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3128" y="1532930"/>
            <a:ext cx="25913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完全去中心化 · 全球通用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13128" y="1809155"/>
            <a:ext cx="2540496" cy="6475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94128" y="1856780"/>
            <a:ext cx="22026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PoS Chain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94128" y="2002780"/>
            <a:ext cx="2202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완전 호환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94128" y="2167830"/>
            <a:ext cx="2202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 지갑 연동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94128" y="2332881"/>
            <a:ext cx="2202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확정 &amp; 저렴한 가스비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26950"/>
            <a:ext cx="50750" cy="27935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28439"/>
            <a:ext cx="35088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 BUSINESS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3901" y="482501"/>
            <a:ext cx="6248698" cy="501551"/>
          </a:xfrm>
          <a:prstGeom prst="roundRect">
            <a:avLst>
              <a:gd name="adj" fmla="val 1266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2895" y="657076"/>
            <a:ext cx="6250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구조 Revenue Streams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3901" y="1047452"/>
            <a:ext cx="6248698" cy="817066"/>
          </a:xfrm>
          <a:prstGeom prst="roundRect">
            <a:avLst>
              <a:gd name="adj" fmla="val 10880"/>
            </a:avLst>
          </a:prstGeom>
          <a:solidFill>
            <a:srgbClr val="1A0A15"/>
          </a:solidFill>
          <a:ln w="9525">
            <a:solidFill>
              <a:srgbClr val="FF6B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7726" y="1285577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0379" y="1328440"/>
            <a:ext cx="1094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HRT Transaction Fee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62675" y="1328440"/>
            <a:ext cx="220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7726" y="1663303"/>
            <a:ext cx="612106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교환소 거래 수수료 + 크로스체인 브릿지 fees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3901" y="1927920"/>
            <a:ext cx="6248698" cy="817066"/>
          </a:xfrm>
          <a:prstGeom prst="roundRect">
            <a:avLst>
              <a:gd name="adj" fmla="val 1088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7726" y="2166045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0379" y="2194620"/>
            <a:ext cx="7708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SaaS 구독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19788" y="2194620"/>
            <a:ext cx="468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¥50K/년~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7726" y="2543770"/>
            <a:ext cx="612106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CSR 패널 + ESG 보고서 +志愿者 관리 SaaS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01" y="2808387"/>
            <a:ext cx="6248698" cy="817066"/>
          </a:xfrm>
          <a:prstGeom prst="roundRect">
            <a:avLst>
              <a:gd name="adj" fmla="val 1088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7726" y="3046512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379" y="3075087"/>
            <a:ext cx="941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매칭 수수료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9594" y="3089374"/>
            <a:ext cx="345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5~10%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7726" y="3424238"/>
            <a:ext cx="612106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기업·단체 태스크 게시 및志愿者 매칭 수수료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53901" y="3688854"/>
            <a:ext cx="6248698" cy="817066"/>
          </a:xfrm>
          <a:prstGeom prst="roundRect">
            <a:avLst>
              <a:gd name="adj" fmla="val 1088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7726" y="3926979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0379" y="3955554"/>
            <a:ext cx="7154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 인증 판매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17109" y="3955554"/>
            <a:ext cx="4708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수익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7726" y="4304705"/>
            <a:ext cx="612106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기념 NFT 발급 +rare NFT 경매 +브랜드コラボ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604099" y="48250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지표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04099" y="7236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5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43700" y="698302"/>
            <a:ext cx="846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시장 규모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43700" y="853827"/>
            <a:ext cx="84615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中国蓝领市场 ¥6조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韩国灵活就业 ₩30조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604099" y="117351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5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43700" y="1148209"/>
            <a:ext cx="852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선순환 구조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43700" y="1303734"/>
            <a:ext cx="85283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志愿者 ↑ → 활동 ↑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HRT 유통 ↑ → 가치 ↑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604099" y="162341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5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43700" y="1598116"/>
            <a:ext cx="103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전략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43700" y="1753642"/>
            <a:ext cx="10350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中国+한국 首发 → 글로벌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→ B2B 확대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604099" y="2048024"/>
            <a:ext cx="2286000" cy="730151"/>
          </a:xfrm>
          <a:prstGeom prst="roundRect">
            <a:avLst>
              <a:gd name="adj" fmla="val 12176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68679" y="2133749"/>
            <a:ext cx="2156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TAM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68679" y="2301925"/>
            <a:ext cx="21568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¥36조+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68679" y="2578150"/>
            <a:ext cx="2156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中国企业蓝领市场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77701"/>
            <a:ext cx="50750" cy="30480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77701"/>
            <a:ext cx="26814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로드맵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0701" y="736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5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451" y="78715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90327" y="990302"/>
            <a:ext cx="447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4690" y="1148953"/>
            <a:ext cx="489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550" y="1342579"/>
            <a:ext cx="2108150" cy="593824"/>
          </a:xfrm>
          <a:prstGeom prst="roundRect">
            <a:avLst>
              <a:gd name="adj" fmla="val 12832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576" y="1428304"/>
            <a:ext cx="19238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架构设计确定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6576" y="1569095"/>
            <a:ext cx="19238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团队组建完成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6576" y="1709886"/>
            <a:ext cx="19238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核心专利申请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09950" y="736402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A2A4A"/>
          </a:solidFill>
          <a:ln w="19050">
            <a:solidFill>
              <a:srgbClr val="FF6B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79750" y="8062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98478" y="1028402"/>
            <a:ext cx="447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72989" y="1187053"/>
            <a:ext cx="489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3701" y="1380679"/>
            <a:ext cx="2108299" cy="593824"/>
          </a:xfrm>
          <a:prstGeom prst="roundRect">
            <a:avLst>
              <a:gd name="adj" fmla="val 12832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74727" y="1466404"/>
            <a:ext cx="192397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MVP开发完成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74727" y="1607195"/>
            <a:ext cx="192397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内侧用户招募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74727" y="1747986"/>
            <a:ext cx="192397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HRT发行准备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18100" y="736402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A2A4A"/>
          </a:solidFill>
          <a:ln w="19050">
            <a:solidFill>
              <a:srgbClr val="FF6B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7901" y="8062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06777" y="1028402"/>
            <a:ext cx="447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81140" y="1187053"/>
            <a:ext cx="489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380679"/>
            <a:ext cx="2108150" cy="593824"/>
          </a:xfrm>
          <a:prstGeom prst="roundRect">
            <a:avLst>
              <a:gd name="adj" fmla="val 12832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83026" y="1466404"/>
            <a:ext cx="19238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中韩首发上线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83026" y="1607195"/>
            <a:ext cx="19238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企业合作签约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83026" y="1747986"/>
            <a:ext cx="19238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HRT正式发行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626400" y="736402"/>
            <a:ext cx="215801" cy="215801"/>
          </a:xfrm>
          <a:prstGeom prst="roundRect">
            <a:avLst>
              <a:gd name="adj" fmla="val 423724"/>
            </a:avLst>
          </a:prstGeom>
          <a:solidFill>
            <a:srgbClr val="2A2A4A"/>
          </a:solidFill>
          <a:ln w="19050">
            <a:solidFill>
              <a:srgbClr val="FF6B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96200" y="8062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14927" y="1028402"/>
            <a:ext cx="447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89439" y="1187053"/>
            <a:ext cx="489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80150" y="1380679"/>
            <a:ext cx="2108299" cy="593824"/>
          </a:xfrm>
          <a:prstGeom prst="roundRect">
            <a:avLst>
              <a:gd name="adj" fmla="val 12832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91176" y="1466404"/>
            <a:ext cx="192397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全球化扩展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791176" y="1607195"/>
            <a:ext cx="192397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DEX上线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791176" y="1747986"/>
            <a:ext cx="192397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NFT生态完善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5550" y="2202954"/>
            <a:ext cx="2012900" cy="784027"/>
          </a:xfrm>
          <a:prstGeom prst="roundRect">
            <a:avLst>
              <a:gd name="adj" fmla="val 12959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0585" y="2339429"/>
            <a:ext cx="17228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00585" y="2660005"/>
            <a:ext cx="1722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项目启动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95401" y="2202954"/>
            <a:ext cx="2013049" cy="784027"/>
          </a:xfrm>
          <a:prstGeom prst="roundRect">
            <a:avLst>
              <a:gd name="adj" fmla="val 12959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640434" y="2339429"/>
            <a:ext cx="1722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10만+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640434" y="2707630"/>
            <a:ext cx="17229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 (1年内)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35401" y="2202954"/>
            <a:ext cx="2013049" cy="784027"/>
          </a:xfrm>
          <a:prstGeom prst="roundRect">
            <a:avLst>
              <a:gd name="adj" fmla="val 12959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80434" y="2339429"/>
            <a:ext cx="1722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100만+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780434" y="2707630"/>
            <a:ext cx="17229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目标志愿者 (3年内)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75400" y="2202954"/>
            <a:ext cx="2013049" cy="784027"/>
          </a:xfrm>
          <a:prstGeom prst="roundRect">
            <a:avLst>
              <a:gd name="adj" fmla="val 12959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920433" y="2339429"/>
            <a:ext cx="1722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¥1억+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20433" y="2707630"/>
            <a:ext cx="17229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目标年收入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524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52400"/>
            <a:ext cx="26556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팀원 CORE 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584150"/>
            <a:ext cx="2969568" cy="4559350"/>
          </a:xfrm>
          <a:prstGeom prst="roundRect">
            <a:avLst>
              <a:gd name="adj" fmla="val 427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5826" y="7460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850" y="892076"/>
            <a:ext cx="35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7677" y="879425"/>
            <a:ext cx="1921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7677" y="1104751"/>
            <a:ext cx="1921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产品负责人 / APP开发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5826" y="1482477"/>
            <a:ext cx="2645718" cy="126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5826" y="1571327"/>
            <a:ext cx="2698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开发专家，精通Flutter移动端开发。在Claw公司主导多个项目落地。负责产品设计与APP开发。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5826" y="4826198"/>
            <a:ext cx="386209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2026" y="4851499"/>
            <a:ext cx="2384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40135" y="4826198"/>
            <a:ext cx="436811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6335" y="4851499"/>
            <a:ext cx="2900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15045" y="4826198"/>
            <a:ext cx="482352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91245" y="4851499"/>
            <a:ext cx="336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产品设计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835497" y="4826198"/>
            <a:ext cx="482352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11697" y="4851499"/>
            <a:ext cx="336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项目执行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375868" y="584150"/>
            <a:ext cx="2969568" cy="4559350"/>
          </a:xfrm>
          <a:prstGeom prst="roundRect">
            <a:avLst>
              <a:gd name="adj" fmla="val 427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37793" y="746075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80817" y="892076"/>
            <a:ext cx="355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99645" y="865138"/>
            <a:ext cx="1921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9645" y="1119039"/>
            <a:ext cx="1921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技术负责人 / 后端+区块链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37793" y="1482477"/>
            <a:ext cx="2645718" cy="126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37793" y="1571327"/>
            <a:ext cx="2698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资深全栈工程师，精通NestJS/TypeScript/PostgreSQL+区块链开发。负责后端架构与智能合约开发。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37793" y="4826198"/>
            <a:ext cx="418356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13993" y="4851499"/>
            <a:ext cx="271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994249" y="4826198"/>
            <a:ext cx="551408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70449" y="4851499"/>
            <a:ext cx="406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83757" y="4826198"/>
            <a:ext cx="542181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59957" y="4851499"/>
            <a:ext cx="3975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164038" y="4826198"/>
            <a:ext cx="485626" cy="155377"/>
          </a:xfrm>
          <a:prstGeom prst="roundRect">
            <a:avLst>
              <a:gd name="adj" fmla="val 24521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40238" y="4851499"/>
            <a:ext cx="339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497836" y="711101"/>
            <a:ext cx="12650" cy="4305449"/>
          </a:xfrm>
          <a:prstGeom prst="roundRect">
            <a:avLst>
              <a:gd name="adj" fmla="val 100395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662886" y="584150"/>
            <a:ext cx="22717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 / Core Values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62886" y="831800"/>
            <a:ext cx="2227213" cy="945803"/>
          </a:xfrm>
          <a:prstGeom prst="roundRect">
            <a:avLst>
              <a:gd name="adj" fmla="val 10742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99362" y="96976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4412" y="942826"/>
            <a:ext cx="16686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실행력 — 아이디어보다 구현이 먼저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99362" y="1234827"/>
            <a:ext cx="86320" cy="88850"/>
          </a:xfrm>
          <a:prstGeom prst="roundRect">
            <a:avLst>
              <a:gd name="adj" fmla="val 1059314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61882" y="1136452"/>
            <a:ext cx="18275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전문성 — Dual-chain 설계 가능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99362" y="149989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964412" y="1472952"/>
            <a:ext cx="1726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中韓 네트워크 — 양국 시장 진출 우위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62886" y="1853803"/>
            <a:ext cx="22717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고문 / Advisors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62886" y="2101453"/>
            <a:ext cx="2227213" cy="888504"/>
          </a:xfrm>
          <a:prstGeom prst="roundRect">
            <a:avLst>
              <a:gd name="adj" fmla="val 1143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99362" y="2225129"/>
            <a:ext cx="103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85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77211" y="2212479"/>
            <a:ext cx="1420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금융·규제 고문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77211" y="2368004"/>
            <a:ext cx="14202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中韓 금융 규제 전문가, 핀테크 출신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99362" y="2558355"/>
            <a:ext cx="103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85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77211" y="2545705"/>
            <a:ext cx="16322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기술 고문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77211" y="2701230"/>
            <a:ext cx="16322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Substrate/Polygon 커뮤니티 핵심 기여자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524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251" y="152400"/>
            <a:ext cx="3372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요청 INVESTMENT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558701"/>
            <a:ext cx="4241899" cy="1917204"/>
          </a:xfrm>
          <a:prstGeom prst="roundRect">
            <a:avLst>
              <a:gd name="adj" fmla="val 7949"/>
            </a:avLst>
          </a:prstGeom>
          <a:solidFill>
            <a:srgbClr val="1A0A15"/>
          </a:solidFill>
          <a:ln w="9525">
            <a:solidFill>
              <a:srgbClr val="C85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411" y="745927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라운드 목표 금액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8411" y="936427"/>
            <a:ext cx="38928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¥500만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28411" y="1507927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，约 10억韩元 / 약 7만 달러 USD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576" y="1752302"/>
            <a:ext cx="1221284" cy="536377"/>
          </a:xfrm>
          <a:prstGeom prst="roundRect">
            <a:avLst>
              <a:gd name="adj" fmla="val 14206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1803" y="1850678"/>
            <a:ext cx="1070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밸류에이션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1803" y="1990279"/>
            <a:ext cx="1070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¥3,000만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64060" y="1752302"/>
            <a:ext cx="1221432" cy="536377"/>
          </a:xfrm>
          <a:prstGeom prst="roundRect">
            <a:avLst>
              <a:gd name="adj" fmla="val 14206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39285" y="1850678"/>
            <a:ext cx="1070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지분 요구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39285" y="1990279"/>
            <a:ext cx="10709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1692" y="1752302"/>
            <a:ext cx="1221432" cy="536377"/>
          </a:xfrm>
          <a:prstGeom prst="roundRect">
            <a:avLst>
              <a:gd name="adj" fmla="val 14206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36917" y="1850678"/>
            <a:ext cx="1070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투자단위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136917" y="1990279"/>
            <a:ext cx="10709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901" y="2552105"/>
            <a:ext cx="1363117" cy="453926"/>
          </a:xfrm>
          <a:prstGeom prst="roundRect">
            <a:avLst>
              <a:gd name="adj" fmla="val 1678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3516" y="2637830"/>
            <a:ext cx="11638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ROI (3년)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53516" y="2767905"/>
            <a:ext cx="11638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20x+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3218" y="2552105"/>
            <a:ext cx="1363266" cy="453926"/>
          </a:xfrm>
          <a:prstGeom prst="roundRect">
            <a:avLst>
              <a:gd name="adj" fmla="val 1678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2831" y="2637830"/>
            <a:ext cx="11640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출시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792831" y="2767905"/>
            <a:ext cx="1164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32683" y="2552105"/>
            <a:ext cx="1363117" cy="453926"/>
          </a:xfrm>
          <a:prstGeom prst="roundRect">
            <a:avLst>
              <a:gd name="adj" fmla="val 1678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32298" y="2637830"/>
            <a:ext cx="11638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성장률 목표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32298" y="2767905"/>
            <a:ext cx="1163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300%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8200" y="558701"/>
            <a:ext cx="43267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펀드 사용 계획 USE OF FUNDS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8200" y="806351"/>
            <a:ext cx="4241899" cy="3921323"/>
          </a:xfrm>
          <a:prstGeom prst="roundRect">
            <a:avLst>
              <a:gd name="adj" fmla="val 259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84675" y="917377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38576" y="917377"/>
            <a:ext cx="1746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인건비 · 개발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38576" y="1072902"/>
            <a:ext cx="17465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¥250만 — 핵심 개발자 + flutter 디자이너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84675" y="1260128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38576" y="1260128"/>
            <a:ext cx="18819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인프라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38576" y="1415653"/>
            <a:ext cx="18819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¥100만 — Substrate 노드 + Polygon 가스비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84675" y="1602879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38576" y="1602879"/>
            <a:ext cx="19165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· BD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38576" y="1758404"/>
            <a:ext cx="19165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¥100만 — 中韓 기업계약 +志愿者 모집 + PR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84675" y="1945630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38576" y="1945630"/>
            <a:ext cx="1616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법률 · 규정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38576" y="2101155"/>
            <a:ext cx="1616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¥50만 — 特許申請 + 중계기관 수수료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48200" y="4803874"/>
            <a:ext cx="4241899" cy="339626"/>
          </a:xfrm>
          <a:prstGeom prst="roundRect">
            <a:avLst>
              <a:gd name="adj" fmla="val 2991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44986" y="4902250"/>
            <a:ext cx="40483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Seed轮预计估值：¥5,000万~1억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0851" y="895648"/>
            <a:ext cx="762000" cy="50750"/>
          </a:xfrm>
          <a:prstGeom prst="roundRect">
            <a:avLst>
              <a:gd name="adj" fmla="val 5004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17613" y="1162199"/>
            <a:ext cx="6508626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8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17613" y="2098774"/>
            <a:ext cx="65086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 트 체 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17613" y="2613124"/>
            <a:ext cx="65086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 | 让每一份善意都被记录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81423" y="3006775"/>
            <a:ext cx="2025402" cy="730002"/>
          </a:xfrm>
          <a:prstGeom prst="roundRect">
            <a:avLst>
              <a:gd name="adj" fmla="val 1391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52139" y="3117800"/>
            <a:ext cx="1683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2139" y="3394025"/>
            <a:ext cx="16839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52139" y="3511451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heartchain.io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59225" y="3006775"/>
            <a:ext cx="2025402" cy="730002"/>
          </a:xfrm>
          <a:prstGeom prst="roundRect">
            <a:avLst>
              <a:gd name="adj" fmla="val 1391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29941" y="3117800"/>
            <a:ext cx="1683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9941" y="3394025"/>
            <a:ext cx="16839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29941" y="3511451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contact@heartchain.io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37027" y="3006775"/>
            <a:ext cx="2025402" cy="730002"/>
          </a:xfrm>
          <a:prstGeom prst="roundRect">
            <a:avLst>
              <a:gd name="adj" fmla="val 1391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07743" y="3117800"/>
            <a:ext cx="1683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07743" y="3394025"/>
            <a:ext cx="16839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07743" y="3511451"/>
            <a:ext cx="1683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@heartchain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17613" y="3914477"/>
            <a:ext cx="65086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선의를 기록하고, 모든 기여에 보답을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17613" y="4124027"/>
            <a:ext cx="65086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 Foundation | 2026 | 한국 + 중국 글로벌 런칭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招商PPT - 한국어版</dc:title>
  <dc:subject>HeartChain Investment Deck</dc:subject>
  <dc:creator>HeartChain</dc:creator>
  <cp:lastModifiedBy>HeartChain</cp:lastModifiedBy>
  <cp:revision>1</cp:revision>
  <dcterms:created xsi:type="dcterms:W3CDTF">2026-04-27T05:28:24Z</dcterms:created>
  <dcterms:modified xsi:type="dcterms:W3CDTF">2026-04-27T05:28:24Z</dcterms:modified>
</cp:coreProperties>
</file>