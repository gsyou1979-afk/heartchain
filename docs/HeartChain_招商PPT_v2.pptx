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94960" y="1371600"/>
            <a:ext cx="1097280" cy="10972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160020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HC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5176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HeartChain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1089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94560"/>
                </a:solidFill>
              </a:defRPr>
            </a:pPr>
            <a:r>
              <a:t>哈特链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区块链好人好事记录平台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06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让每一份善意都被记录，让每一次付出都有回报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66344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Link the World with Heart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市场痛点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传统志愿服务的困境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11887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5720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94560"/>
                </a:solidFill>
              </a:defRPr>
            </a:pPr>
            <a:r>
              <a:t>付出无回报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志愿者的时间和精力无法被量化和记录，热情难以持续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486400" cy="11887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45720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276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94560"/>
                </a:solidFill>
              </a:defRPr>
            </a:pPr>
            <a:r>
              <a:t>信任缺失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好人好事难以被核实和证明，善意常被质疑或遗忘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26080"/>
            <a:ext cx="5486400" cy="11887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45720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9992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94560"/>
                </a:solidFill>
              </a:defRPr>
            </a:pPr>
            <a:r>
              <a:t>资源错配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2918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需要帮助的人找不到志愿者，志愿者的能力无法精准匹配需求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26080"/>
            <a:ext cx="5486400" cy="11887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26080"/>
            <a:ext cx="45720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9992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94560"/>
                </a:solidFill>
              </a:defRPr>
            </a:pPr>
            <a:r>
              <a:t>激励不足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2918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缺乏有效的激励机制，志愿服务难以形成良性循环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5303520"/>
            <a:ext cx="8531352" cy="731520"/>
          </a:xfrm>
          <a:prstGeom prst="roundRect">
            <a:avLst/>
          </a:prstGeom>
          <a:solidFill>
            <a:srgbClr val="3D3333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544068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94560"/>
                </a:solidFill>
              </a:defRPr>
            </a:pPr>
            <a:r>
              <a:t>市场需要一场信任革命 —— 让善意可见、可量化、可流通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HeartChain 的核心理念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74320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</a:defRPr>
            </a:pPr>
            <a:r>
              <a:t>区块链积分系统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将志愿服务行为数字化、量化、上链存储，终身累积不可篡改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45920"/>
            <a:ext cx="274320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</a:defRPr>
            </a:pPr>
            <a:r>
              <a:t>三级背书机制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劳动者自评 + 证明人确认 + 需求方评价，确保真实性与可信度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74320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</a:defRPr>
            </a:pPr>
            <a:r>
              <a:t>智能任务匹配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945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基于地理位置、技能标签、信用评分的精准供需对接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45920"/>
            <a:ext cx="274320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</a:defRPr>
            </a:pPr>
            <a:r>
              <a:t>积分流通生态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1945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服务交换、物资兑换、捐赠传递，让付出必有回报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4114800"/>
            <a:ext cx="4873752" cy="137160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4343400"/>
            <a:ext cx="4873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以爱心链接世界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84632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Link the World with Heart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核心功能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3657600" cy="1645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36576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用户身份体系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</a:defRPr>
            </a:pPr>
            <a:r>
              <a:t>多语言支持、中韩双通道注册、链上唯一DID身份、终身跟随的信用评分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914400"/>
            <a:ext cx="3657600" cy="1645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914400"/>
            <a:ext cx="36576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051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哈特币积分系统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4173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</a:defRPr>
            </a:pPr>
            <a:r>
              <a:t>链上铸造存储、三级背书生成、可流通兑换、通缩机制维持价值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914400"/>
            <a:ext cx="3657600" cy="1645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914400"/>
            <a:ext cx="36576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051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智能任务大厅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4173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</a:defRPr>
            </a:pPr>
            <a:r>
              <a:t>任务发布与接单、分类标签筛选、地理位置匹配、任务状态流转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743200"/>
            <a:ext cx="3657600" cy="1645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743200"/>
            <a:ext cx="36576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证明与评价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2461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</a:defRPr>
            </a:pPr>
            <a:r>
              <a:t>图片/定位/时间戳证据、多重证明人确认、双向评价体系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743200"/>
            <a:ext cx="3657600" cy="1645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2743200"/>
            <a:ext cx="36576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组织团队管理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2461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</a:defRPr>
            </a:pPr>
            <a:r>
              <a:t>志愿团队入驻、成员邀请管理、团队积分排行、集体活动组织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2743200"/>
            <a:ext cx="3657600" cy="1645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2743200"/>
            <a:ext cx="36576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管理后台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2461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</a:defRPr>
            </a:pPr>
            <a:r>
              <a:t>用户审核管理、任务内容审核、积分发行监控、数据统计分析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754880"/>
            <a:ext cx="11430000" cy="822960"/>
          </a:xfrm>
          <a:prstGeom prst="roundRect">
            <a:avLst/>
          </a:prstGeom>
          <a:solidFill>
            <a:srgbClr val="3D2D33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三角定位核心理念：志愿者 — 任务 — 积分，三位一体形成志愿服务闭环生态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02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</a:defRPr>
            </a:pPr>
            <a:r>
              <a:t>双链并行架构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029200" cy="914400"/>
          </a:xfrm>
          <a:prstGeom prst="roundRect">
            <a:avLst/>
          </a:prstGeom>
          <a:solidFill>
            <a:srgbClr val="2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5720" cy="914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</a:defRPr>
            </a:pPr>
            <a:r>
              <a:t>中国合规链 (Substrate)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</a:defRPr>
            </a:pPr>
            <a:r>
              <a:t>满足国内监管要求，积分发行与流转，数据境内存储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5029200" cy="914400"/>
          </a:xfrm>
          <a:prstGeom prst="roundRect">
            <a:avLst/>
          </a:prstGeom>
          <a:solidFill>
            <a:srgbClr val="2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45720" cy="9144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</a:defRPr>
            </a:pPr>
            <a:r>
              <a:t>国际公链 (Polygon)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</a:defRPr>
            </a:pPr>
            <a:r>
              <a:t>韩国及全球流通，低Gas费(~$0.001)，TPS 7000+，合规友好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5029200" cy="914400"/>
          </a:xfrm>
          <a:prstGeom prst="roundRect">
            <a:avLst/>
          </a:prstGeom>
          <a:solidFill>
            <a:srgbClr val="2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45720" cy="914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</a:defRPr>
            </a:pPr>
            <a:r>
              <a:t>跨链桥接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</a:defRPr>
            </a:pPr>
            <a:r>
              <a:t>额度限制 + KYC验证，实现中韩用户积分互通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</a:defRPr>
            </a:pPr>
            <a:r>
              <a:t>技术栈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0"/>
            <a:ext cx="5029200" cy="548640"/>
          </a:xfrm>
          <a:prstGeom prst="roundRect">
            <a:avLst/>
          </a:prstGeom>
          <a:solidFill>
            <a:srgbClr val="2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463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Nuxt.js + Vue 3 + TailwindCSS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011680"/>
            <a:ext cx="5029200" cy="548640"/>
          </a:xfrm>
          <a:prstGeom prst="roundRect">
            <a:avLst/>
          </a:prstGeom>
          <a:solidFill>
            <a:srgbClr val="2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103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Flutter + Riverpod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651760"/>
            <a:ext cx="5029200" cy="548640"/>
          </a:xfrm>
          <a:prstGeom prst="roundRect">
            <a:avLst/>
          </a:prstGeom>
          <a:solidFill>
            <a:srgbClr val="2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NestJS + TypeScript + TypeORM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291839"/>
            <a:ext cx="5029200" cy="548640"/>
          </a:xfrm>
          <a:prstGeom prst="roundRect">
            <a:avLst/>
          </a:prstGeom>
          <a:solidFill>
            <a:srgbClr val="2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3832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3832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PostgreSQL + Redis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931920"/>
            <a:ext cx="5029200" cy="548640"/>
          </a:xfrm>
          <a:prstGeom prst="roundRect">
            <a:avLst/>
          </a:prstGeom>
          <a:solidFill>
            <a:srgbClr val="2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02335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i18n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0233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中文 / 한국어 / English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754880"/>
            <a:ext cx="5029200" cy="731520"/>
          </a:xfrm>
          <a:prstGeom prst="roundRect">
            <a:avLst/>
          </a:prstGeom>
          <a:solidFill>
            <a:srgbClr val="1A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892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ECDC4"/>
                </a:solidFill>
              </a:defRPr>
            </a:pPr>
            <a:r>
              <a:t>三端共用同一套API，并行开发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D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227"/>
                </a:solidFill>
              </a:defRPr>
            </a:pPr>
            <a:r>
              <a:t>多元收入来源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005840"/>
          </a:xfrm>
          <a:prstGeom prst="roundRect">
            <a:avLst/>
          </a:prstGeom>
          <a:solidFill>
            <a:srgbClr val="0D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227"/>
                </a:solidFill>
              </a:defRPr>
            </a:pPr>
            <a:r>
              <a:t>组织入驻费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</a:defRPr>
            </a:pPr>
            <a:r>
              <a:t>企业/公益组织入驻平台收取年费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486400" cy="1005840"/>
          </a:xfrm>
          <a:prstGeom prst="roundRect">
            <a:avLst/>
          </a:prstGeom>
          <a:solidFill>
            <a:srgbClr val="0D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227"/>
                </a:solidFill>
              </a:defRPr>
            </a:pPr>
            <a:r>
              <a:t>任务抽成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</a:defRPr>
            </a:pPr>
            <a:r>
              <a:t>有偿服务类任务收取积分手续费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5486400" cy="1005840"/>
          </a:xfrm>
          <a:prstGeom prst="roundRect">
            <a:avLst/>
          </a:prstGeom>
          <a:solidFill>
            <a:srgbClr val="0D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227"/>
                </a:solidFill>
              </a:defRPr>
            </a:pPr>
            <a:r>
              <a:t>增值服务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632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</a:defRPr>
            </a:pPr>
            <a:r>
              <a:t>高级数据分析、推广曝光、技能认证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560320"/>
            <a:ext cx="5486400" cy="1005840"/>
          </a:xfrm>
          <a:prstGeom prst="roundRect">
            <a:avLst/>
          </a:prstGeom>
          <a:solidFill>
            <a:srgbClr val="0D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227"/>
                </a:solidFill>
              </a:defRPr>
            </a:pPr>
            <a:r>
              <a:t>物资商城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632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</a:defRPr>
            </a:pPr>
            <a:r>
              <a:t>积分兑换商城的商品差价与合作佣金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227"/>
                </a:solidFill>
              </a:defRPr>
            </a:pPr>
            <a:r>
              <a:t>目标市场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</a:defRPr>
            </a:pPr>
            <a:r>
              <a:t>中国 + 韩国 首发，逐步扩展至全球华语圈及亚太地区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227"/>
                </a:solidFill>
              </a:defRPr>
            </a:pPr>
            <a:r>
              <a:t>目标用户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</a:defRPr>
            </a:pPr>
            <a:r>
              <a:t>志愿者个人、志愿团队、需求方、技能服务者、捐赠者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11247120" cy="731520"/>
          </a:xfrm>
          <a:prstGeom prst="roundRect">
            <a:avLst/>
          </a:prstGeom>
          <a:solidFill>
            <a:srgbClr val="1A4A4A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政府/社区采购 + 数据服务 + API授权 = 多元化收入结构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C9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发展路线图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2743200" cy="47548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27432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v1.0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进行中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用户注册/认证（中韩双语）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任务发布与接单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积分发放与消费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71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基础组织管理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83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Web + APP + 管理后台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23360"/>
            <a:ext cx="2468880" cy="320040"/>
          </a:xfrm>
          <a:prstGeom prst="roundRect">
            <a:avLst/>
          </a:prstGeom>
          <a:solidFill>
            <a:srgbClr val="3D4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023360"/>
            <a:ext cx="1728216" cy="32004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434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Q2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914400"/>
            <a:ext cx="2743200" cy="47548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914400"/>
            <a:ext cx="27432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1051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v1.5 链上化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合规链部署（Substrate）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148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Polygon 公链部署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双链桥接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971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积分正式上链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383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信用评分算法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4023360"/>
            <a:ext cx="2468880" cy="320040"/>
          </a:xfrm>
          <a:prstGeom prst="roundRect">
            <a:avLst/>
          </a:prstGeom>
          <a:solidFill>
            <a:srgbClr val="3D4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29000" y="4023360"/>
            <a:ext cx="987552" cy="32004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4434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Q3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914400"/>
            <a:ext cx="2743200" cy="47548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914400"/>
            <a:ext cx="27432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1051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v2.0 增长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Phase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募捐系统（智能合约）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148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技能服务市场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智能匹配推荐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971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社区动态与排行榜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383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英文版本上线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4023360"/>
            <a:ext cx="2468880" cy="320040"/>
          </a:xfrm>
          <a:prstGeom prst="roundRect">
            <a:avLst/>
          </a:prstGeom>
          <a:solidFill>
            <a:srgbClr val="3D4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55080" y="4023360"/>
            <a:ext cx="246888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434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Q4 2026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914400"/>
            <a:ext cx="2743200" cy="47548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4000" y="914400"/>
            <a:ext cx="2743200" cy="457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1051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v3.0 生态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Phase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物资兑换商城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2148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B端政府/企业对接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DAO 社区治理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2971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跨平台积分互通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3383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• 全球化运营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81160" y="4023360"/>
            <a:ext cx="2468880" cy="320040"/>
          </a:xfrm>
          <a:prstGeom prst="roundRect">
            <a:avLst/>
          </a:prstGeom>
          <a:solidFill>
            <a:srgbClr val="3D4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81160" y="4434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2027+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核心团队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02920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0" y="1371600"/>
            <a:ext cx="914400" cy="9144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600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KP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ECDC4"/>
                </a:solidFill>
              </a:defRPr>
            </a:pPr>
            <a:r>
              <a:t>创始人 / 产品负责人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</a:defRPr>
            </a:pPr>
            <a:r>
              <a:t>Android开发专家，精通Flutter跨平台开发，负责产品设计与APP开发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097280"/>
            <a:ext cx="502920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1371600"/>
            <a:ext cx="914400" cy="9144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600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大秘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ECDC4"/>
                </a:solidFill>
              </a:defRPr>
            </a:pPr>
            <a:r>
              <a:t>技术负责人 / 全栈开发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004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AA"/>
                </a:solidFill>
              </a:defRPr>
            </a:pPr>
            <a:r>
              <a:t>AI助理，后端+前端+区块链全栈开发，负责技术架构与实现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</a:defRPr>
            </a:pPr>
            <a:r>
              <a:t>团队优势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3657600" cy="1097280"/>
          </a:xfrm>
          <a:prstGeom prst="roundRect">
            <a:avLst/>
          </a:prstGeom>
          <a:solidFill>
            <a:srgbClr val="16213E"/>
          </a:solidFill>
          <a:ln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526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</a:defRPr>
            </a:pPr>
            <a:r>
              <a:t>精简高效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846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两人团队 KP + AI助理，分工明确，并行开发，节省人力成本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389120"/>
            <a:ext cx="3657600" cy="1097280"/>
          </a:xfrm>
          <a:prstGeom prst="roundRect">
            <a:avLst/>
          </a:prstGeom>
          <a:solidFill>
            <a:srgbClr val="16213E"/>
          </a:solidFill>
          <a:ln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526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</a:defRPr>
            </a:pPr>
            <a:r>
              <a:t>技术互补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846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KP擅长移动端和产品，大秘覆盖后端、前端、区块链全技术栈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4389120"/>
            <a:ext cx="3657600" cy="1097280"/>
          </a:xfrm>
          <a:prstGeom prst="roundRect">
            <a:avLst/>
          </a:prstGeom>
          <a:solidFill>
            <a:srgbClr val="16213E"/>
          </a:solidFill>
          <a:ln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4526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</a:defRPr>
            </a:pPr>
            <a:r>
              <a:t>快速迭代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846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AI辅助编程，代码质量和效率双提升，产品迭代周期短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融资需求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029200" cy="13716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" cy="13716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本轮融资目标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227"/>
                </a:solidFill>
              </a:defRPr>
            </a:pPr>
            <a:r>
              <a:t>¥500万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估值根据项目进展和投资人意向商议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097280"/>
            <a:ext cx="5029200" cy="13716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097280"/>
            <a:ext cx="54864" cy="13716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234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释放股份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227"/>
                </a:solidFill>
              </a:defRPr>
            </a:pPr>
            <a:r>
              <a:t>10-15%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根据估值和融资额度浮动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88"/>
                </a:solidFill>
              </a:defRPr>
            </a:pPr>
            <a:r>
              <a:t>投资条款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</a:defRPr>
            </a:pPr>
            <a:r>
              <a:t>投资阶段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Pre-A / 天使轮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</a:defRPr>
            </a:pPr>
            <a:r>
              <a:t>最小投资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¥50万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</a:defRPr>
            </a:pPr>
            <a:r>
              <a:t>资金用途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研发+市场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</a:defRPr>
            </a:pPr>
            <a:r>
              <a:t>退出方式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并购/IPO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227"/>
                </a:solidFill>
              </a:defRPr>
            </a:pPr>
            <a:r>
              <a:t>资金用途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200400"/>
            <a:ext cx="5029200" cy="6400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3200400"/>
            <a:ext cx="45720" cy="6400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2735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技术研发 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520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区块链集成、智能合约开发、系统优化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3931920"/>
            <a:ext cx="5029200" cy="6400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3931920"/>
            <a:ext cx="45720" cy="6400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40050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团队扩张 25%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25195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招募核心开发、市场运营人员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4663440"/>
            <a:ext cx="5029200" cy="6400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4663440"/>
            <a:ext cx="45720" cy="6400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47365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市场推广 25%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9834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中韩高校合作、社区推广、品牌建设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5394960"/>
            <a:ext cx="5029200" cy="6400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0" y="5394960"/>
            <a:ext cx="45720" cy="6400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54681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合规法务 10%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5715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专利申请、法律顾问、合规备案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17373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HC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9260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感谢您的关注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</a:defRPr>
            </a:pPr>
            <a:r>
              <a:t>让善意链接世界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4114800"/>
            <a:ext cx="4873752" cy="10972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4206240"/>
            <a:ext cx="4873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94560"/>
                </a:solidFill>
              </a:defRPr>
            </a:pPr>
            <a:r>
              <a:t>联系我们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526280"/>
            <a:ext cx="4873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</a:defRPr>
            </a:pPr>
            <a:r>
              <a:t>heartchain@project.com | +82 10-XXXX-XXXX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5486400"/>
            <a:ext cx="5788152" cy="64008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55778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以爱心链接世界 / Link the World with Heart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1264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ECDC4"/>
                </a:solidFill>
              </a:defRPr>
            </a:pPr>
            <a:r>
              <a:t>heartchain.io | heartchain.kr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