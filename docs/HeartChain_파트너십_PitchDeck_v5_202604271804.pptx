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개발자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8899AA"/>
              </a:solidFill>
              <a:ln w="38100" cap="flat">
                <a:solidFill>
                  <a:srgbClr val="0A1628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Sheet1!$A$2:$A$2</c:f>
              <c:strCache>
                <c:ptCount val="1"/>
                <c:pt idx="0">
                  <c:v>개발자  30%</c:v>
                </c:pt>
              </c:strCache>
            </c:strRef>
          </c:cat>
          <c:val>
            <c:numRef>
              <c:f>Sheet1!$B$2:$B$2</c:f>
              <c:numCache>
                <c:ptCount val="1"/>
                <c:pt idx="0">
                  <c:v>30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jpg"/><Relationship Id="rId3" Type="http://schemas.openxmlformats.org/officeDocument/2006/relationships/image" Target="../media/image-10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KP\.workbuddy\skills\powerpoint\imgs\togeth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45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5" name="Shape 2"/>
          <p:cNvSpPr/>
          <p:nvPr/>
        </p:nvSpPr>
        <p:spPr>
          <a:xfrm>
            <a:off x="457200" y="1097280"/>
            <a:ext cx="54864" cy="22860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6" name="Text 3"/>
          <p:cNvSpPr/>
          <p:nvPr/>
        </p:nvSpPr>
        <p:spPr>
          <a:xfrm>
            <a:off x="685800" y="109728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HeartChain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685800" y="192024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D4AA"/>
                </a:solidFill>
              </a:rPr>
              <a:t>哈特链  ·  블록체인志愿服务平台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685800" y="251460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</a:rPr>
              <a:t>파트너십 제안서   Partnership Proposal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57200" y="3200400"/>
            <a:ext cx="2560320" cy="914400"/>
          </a:xfrm>
          <a:prstGeom prst="rect">
            <a:avLst>
              <a:gd name="adj" fmla="val 10000"/>
            </a:avLst>
          </a:prstGeom>
          <a:solidFill>
            <a:srgbClr val="0A1628">
              <a:alpha val="6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32461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D4AA"/>
                </a:solidFill>
              </a:rPr>
              <a:t>50%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457200" y="37033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단체 풀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Partners Pool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291840" y="3200400"/>
            <a:ext cx="2560320" cy="914400"/>
          </a:xfrm>
          <a:prstGeom prst="rect">
            <a:avLst>
              <a:gd name="adj" fmla="val 10000"/>
            </a:avLst>
          </a:prstGeom>
          <a:solidFill>
            <a:srgbClr val="0A1628">
              <a:alpha val="6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291840" y="32461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D4AA"/>
                </a:solidFill>
              </a:rPr>
              <a:t>10M+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3291840" y="37033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목표 회원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Target Members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126480" y="3200400"/>
            <a:ext cx="2560320" cy="914400"/>
          </a:xfrm>
          <a:prstGeom prst="rect">
            <a:avLst>
              <a:gd name="adj" fmla="val 10000"/>
            </a:avLst>
          </a:prstGeom>
          <a:solidFill>
            <a:srgbClr val="0A1628">
              <a:alpha val="6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126480" y="32461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D4AA"/>
                </a:solidFill>
              </a:rPr>
              <a:t>30%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6126480" y="37033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개발자 보유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Developer Share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D4AA">
              <a:alpha val="50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</a:rPr>
              <a:t>01  현실의 문제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봉사의 가치가 디지털 시대에 사라지고 있습니다</a:t>
            </a:r>
            <a:endParaRPr lang="en-US" sz="2600" dirty="0"/>
          </a:p>
        </p:txBody>
      </p:sp>
      <p:pic>
        <p:nvPicPr>
          <p:cNvPr id="5" name="Image 0" descr="C:\Users\KP\.workbuddy\skills\powerpoint\imgs\dirtyCity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143000"/>
            <a:ext cx="4114800" cy="21945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1143000"/>
            <a:ext cx="4114800" cy="2194560"/>
          </a:xfrm>
          <a:prstGeom prst="rect">
            <a:avLst/>
          </a:prstGeom>
          <a:solidFill>
            <a:srgbClr val="000000">
              <a:alpha val="65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201168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🏚️ 쓰레기 넘치는 골목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깨끗하지 않은 도시 환경</a:t>
            </a:r>
            <a:endParaRPr lang="en-US" sz="1500" dirty="0"/>
          </a:p>
        </p:txBody>
      </p:sp>
      <p:pic>
        <p:nvPicPr>
          <p:cNvPr id="8" name="Image 1" descr="C:\Users\KP\.workbuddy\skills\powerpoint\imgs\elderly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143000"/>
            <a:ext cx="4114800" cy="219456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663440" y="1143000"/>
            <a:ext cx="4114800" cy="2194560"/>
          </a:xfrm>
          <a:prstGeom prst="rect">
            <a:avLst/>
          </a:prstGeom>
          <a:solidFill>
            <a:srgbClr val="000000">
              <a:alpha val="65000"/>
            </a:srgbClr>
          </a:solidFill>
          <a:ln/>
        </p:spPr>
      </p:sp>
      <p:sp>
        <p:nvSpPr>
          <p:cNvPr id="10" name="Text 6"/>
          <p:cNvSpPr/>
          <p:nvPr/>
        </p:nvSpPr>
        <p:spPr>
          <a:xfrm>
            <a:off x="4754880" y="201168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👴 혼자 남은 어르신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도움의 손길이 필요한 사람들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365760" y="3520440"/>
            <a:ext cx="2057400" cy="1463040"/>
          </a:xfrm>
          <a:prstGeom prst="rect">
            <a:avLst>
              <a:gd name="adj" fmla="val 6250"/>
            </a:avLst>
          </a:prstGeom>
          <a:solidFill>
            <a:srgbClr val="112240"/>
          </a:solidFill>
          <a:ln w="12700">
            <a:solidFill>
              <a:srgbClr val="FF6B6B">
                <a:alpha val="40000"/>
              </a:srgbClr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57200" y="361188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6B"/>
                </a:solidFill>
              </a:rPr>
              <a:t>📋  기록이 남지 않음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57200" y="4114800"/>
            <a:ext cx="1874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봉사는 했지만 아무 데도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인증되지 않음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2560320" y="3520440"/>
            <a:ext cx="2057400" cy="1463040"/>
          </a:xfrm>
          <a:prstGeom prst="rect">
            <a:avLst>
              <a:gd name="adj" fmla="val 6250"/>
            </a:avLst>
          </a:prstGeom>
          <a:solidFill>
            <a:srgbClr val="112240"/>
          </a:solidFill>
          <a:ln w="12700">
            <a:solidFill>
              <a:srgbClr val="FF6B6B">
                <a:alpha val="4000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2651760" y="361188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6B"/>
                </a:solidFill>
              </a:rPr>
              <a:t>💸  보상 체계 부재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2651760" y="4114800"/>
            <a:ext cx="1874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의무적 자원봉사는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지속하기 어려움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4754880" y="3520440"/>
            <a:ext cx="2057400" cy="1463040"/>
          </a:xfrm>
          <a:prstGeom prst="rect">
            <a:avLst>
              <a:gd name="adj" fmla="val 6250"/>
            </a:avLst>
          </a:prstGeom>
          <a:solidFill>
            <a:srgbClr val="112240"/>
          </a:solidFill>
          <a:ln w="12700">
            <a:solidFill>
              <a:srgbClr val="FF6B6B">
                <a:alpha val="40000"/>
              </a:srgbClr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846320" y="361188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6B"/>
                </a:solidFill>
              </a:rPr>
              <a:t>🔍  사회적 인정 부족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4846320" y="4114800"/>
            <a:ext cx="1874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좋은 일을 해도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"누구도 모른다"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6949440" y="3520440"/>
            <a:ext cx="2057400" cy="1463040"/>
          </a:xfrm>
          <a:prstGeom prst="rect">
            <a:avLst>
              <a:gd name="adj" fmla="val 6250"/>
            </a:avLst>
          </a:prstGeom>
          <a:solidFill>
            <a:srgbClr val="112240"/>
          </a:solidFill>
          <a:ln w="12700">
            <a:solidFill>
              <a:srgbClr val="FF6B6B">
                <a:alpha val="40000"/>
              </a:srgbClr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040880" y="361188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6B"/>
                </a:solidFill>
              </a:rPr>
              <a:t>🌐  디지털 전환 늦음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7040880" y="4114800"/>
            <a:ext cx="1874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APP·플랫폼 없이는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참여 어려움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</a:rPr>
              <a:t>02  HeartChain의 솔루션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Before → After: 이 변화가 HeartChain입니다</a:t>
            </a:r>
            <a:endParaRPr lang="en-US" sz="2600" dirty="0"/>
          </a:p>
        </p:txBody>
      </p:sp>
      <p:pic>
        <p:nvPicPr>
          <p:cNvPr id="5" name="Image 0" descr="C:\Users\KP\.workbuddy\skills\powerpoint\imgs\disable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97280"/>
            <a:ext cx="4114800" cy="21031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1097280"/>
            <a:ext cx="4114800" cy="2103120"/>
          </a:xfrm>
          <a:prstGeom prst="rect">
            <a:avLst/>
          </a:prstGeom>
          <a:solidFill>
            <a:srgbClr val="000000">
              <a:alpha val="55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365760" y="1097280"/>
            <a:ext cx="1188720" cy="3200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8" name="Text 5"/>
          <p:cNvSpPr/>
          <p:nvPr/>
        </p:nvSpPr>
        <p:spPr>
          <a:xfrm>
            <a:off x="365760" y="1115568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BEFORE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196596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장애인을 도와주는 사람 없음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APP 접속 불필요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기여 기록 안 남음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206240" y="182880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D4AA"/>
                </a:solidFill>
              </a:rPr>
              <a:t>▶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3931920" y="242316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AA"/>
                </a:solidFill>
              </a:rPr>
              <a:t>HeartChain</a:t>
            </a:r>
            <a:endParaRPr lang="en-US" sz="1100" dirty="0"/>
          </a:p>
        </p:txBody>
      </p:sp>
      <p:pic>
        <p:nvPicPr>
          <p:cNvPr id="12" name="Image 1" descr="C:\Users\KP\.workbuddy\skills\powerpoint\imgs\volunteer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097280"/>
            <a:ext cx="4114800" cy="210312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663440" y="1097280"/>
            <a:ext cx="4114800" cy="2103120"/>
          </a:xfrm>
          <a:prstGeom prst="rect">
            <a:avLst/>
          </a:prstGeom>
          <a:solidFill>
            <a:srgbClr val="000000">
              <a:alpha val="55000"/>
            </a:srgbClr>
          </a:solidFill>
          <a:ln/>
        </p:spPr>
      </p:sp>
      <p:sp>
        <p:nvSpPr>
          <p:cNvPr id="14" name="Shape 10"/>
          <p:cNvSpPr/>
          <p:nvPr/>
        </p:nvSpPr>
        <p:spPr>
          <a:xfrm>
            <a:off x="4663440" y="1097280"/>
            <a:ext cx="1188720" cy="320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1"/>
          <p:cNvSpPr/>
          <p:nvPr/>
        </p:nvSpPr>
        <p:spPr>
          <a:xfrm>
            <a:off x="4663440" y="1115568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AFTER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4754880" y="196596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자원봉사자 APP 접속으로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기여가 블록체인에 기록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HRT 보상 수령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365760" y="3383280"/>
            <a:ext cx="2057400" cy="1600200"/>
          </a:xfrm>
          <a:prstGeom prst="rect">
            <a:avLst>
              <a:gd name="adj" fmla="val 5714"/>
            </a:avLst>
          </a:prstGeom>
          <a:solidFill>
            <a:srgbClr val="112240"/>
          </a:solidFill>
          <a:ln w="12700">
            <a:solidFill>
              <a:srgbClr val="00D4AA">
                <a:alpha val="40000"/>
              </a:srgbClr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365760" y="347472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⛓️</a:t>
            </a:r>
            <a:endParaRPr lang="en-US" sz="3000" dirty="0"/>
          </a:p>
        </p:txBody>
      </p:sp>
      <p:sp>
        <p:nvSpPr>
          <p:cNvPr id="19" name="Text 15"/>
          <p:cNvSpPr/>
          <p:nvPr/>
        </p:nvSpPr>
        <p:spPr>
          <a:xfrm>
            <a:off x="457200" y="4005072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4AA"/>
                </a:solidFill>
              </a:rPr>
              <a:t>区块链记录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457200" y="4370832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임무 이력 투명 저장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2560320" y="3383280"/>
            <a:ext cx="2057400" cy="1600200"/>
          </a:xfrm>
          <a:prstGeom prst="rect">
            <a:avLst>
              <a:gd name="adj" fmla="val 5714"/>
            </a:avLst>
          </a:prstGeom>
          <a:solidFill>
            <a:srgbClr val="112240"/>
          </a:solidFill>
          <a:ln w="12700">
            <a:solidFill>
              <a:srgbClr val="00D4AA">
                <a:alpha val="40000"/>
              </a:srgbClr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2560320" y="347472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🪙</a:t>
            </a:r>
            <a:endParaRPr lang="en-US" sz="3000" dirty="0"/>
          </a:p>
        </p:txBody>
      </p:sp>
      <p:sp>
        <p:nvSpPr>
          <p:cNvPr id="23" name="Text 19"/>
          <p:cNvSpPr/>
          <p:nvPr/>
        </p:nvSpPr>
        <p:spPr>
          <a:xfrm>
            <a:off x="2651760" y="4005072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4AA"/>
                </a:solidFill>
              </a:rPr>
              <a:t>HRT 코인 경제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2651760" y="4370832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人头分配 + 임무 보상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4754880" y="3383280"/>
            <a:ext cx="2057400" cy="1600200"/>
          </a:xfrm>
          <a:prstGeom prst="rect">
            <a:avLst>
              <a:gd name="adj" fmla="val 5714"/>
            </a:avLst>
          </a:prstGeom>
          <a:solidFill>
            <a:srgbClr val="112240"/>
          </a:solidFill>
          <a:ln w="12700">
            <a:solidFill>
              <a:srgbClr val="00D4AA">
                <a:alpha val="40000"/>
              </a:srgbClr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754880" y="347472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📱</a:t>
            </a:r>
            <a:endParaRPr lang="en-US" sz="3000" dirty="0"/>
          </a:p>
        </p:txBody>
      </p:sp>
      <p:sp>
        <p:nvSpPr>
          <p:cNvPr id="27" name="Text 23"/>
          <p:cNvSpPr/>
          <p:nvPr/>
        </p:nvSpPr>
        <p:spPr>
          <a:xfrm>
            <a:off x="4846320" y="4005072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4AA"/>
                </a:solidFill>
              </a:rPr>
              <a:t>APP 생태계</a:t>
            </a:r>
            <a:endParaRPr lang="en-US" sz="1300" dirty="0"/>
          </a:p>
        </p:txBody>
      </p:sp>
      <p:sp>
        <p:nvSpPr>
          <p:cNvPr id="28" name="Text 24"/>
          <p:cNvSpPr/>
          <p:nvPr/>
        </p:nvSpPr>
        <p:spPr>
          <a:xfrm>
            <a:off x="4846320" y="4370832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실명制注册 + 유효인증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6949440" y="3383280"/>
            <a:ext cx="2057400" cy="1600200"/>
          </a:xfrm>
          <a:prstGeom prst="rect">
            <a:avLst>
              <a:gd name="adj" fmla="val 5714"/>
            </a:avLst>
          </a:prstGeom>
          <a:solidFill>
            <a:srgbClr val="112240"/>
          </a:solidFill>
          <a:ln w="12700">
            <a:solidFill>
              <a:srgbClr val="00D4AA">
                <a:alpha val="40000"/>
              </a:srgbClr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6949440" y="347472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📊</a:t>
            </a:r>
            <a:endParaRPr lang="en-US" sz="3000" dirty="0"/>
          </a:p>
        </p:txBody>
      </p:sp>
      <p:sp>
        <p:nvSpPr>
          <p:cNvPr id="31" name="Text 27"/>
          <p:cNvSpPr/>
          <p:nvPr/>
        </p:nvSpPr>
        <p:spPr>
          <a:xfrm>
            <a:off x="7040880" y="4005072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4AA"/>
                </a:solidFill>
              </a:rPr>
              <a:t>데이터 플랫폼</a:t>
            </a:r>
            <a:endParaRPr lang="en-US" sz="1300" dirty="0"/>
          </a:p>
        </p:txBody>
      </p:sp>
      <p:sp>
        <p:nvSpPr>
          <p:cNvPr id="32" name="Text 28"/>
          <p:cNvSpPr/>
          <p:nvPr/>
        </p:nvSpPr>
        <p:spPr>
          <a:xfrm>
            <a:off x="7040880" y="4370832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단체별 분석 대시보드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</a:rPr>
              <a:t>03  HRT 분배 구조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세 참여자에게公平한 보상 분배</a:t>
            </a:r>
            <a:endParaRPr lang="en-US" sz="28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1188720"/>
          <a:ext cx="393192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1463040" y="256032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HRT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10억 개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85800" y="1371600"/>
            <a:ext cx="1691640" cy="685800"/>
          </a:xfrm>
          <a:prstGeom prst="rect">
            <a:avLst>
              <a:gd name="adj" fmla="val 10667"/>
            </a:avLst>
          </a:prstGeom>
          <a:solidFill>
            <a:srgbClr val="112240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1444752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899AA"/>
                </a:solidFill>
              </a:rPr>
              <a:t>개발자  30%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8899AA"/>
                </a:solidFill>
              </a:rPr>
              <a:t>(3억 HRT)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" y="3063240"/>
            <a:ext cx="1691640" cy="685800"/>
          </a:xfrm>
          <a:prstGeom prst="rect">
            <a:avLst>
              <a:gd name="adj" fmla="val 10667"/>
            </a:avLst>
          </a:prstGeom>
          <a:solidFill>
            <a:srgbClr val="112240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3136392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AA"/>
                </a:solidFill>
              </a:rPr>
              <a:t>단체 풀  50%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0D4AA"/>
                </a:solidFill>
              </a:rPr>
              <a:t>(5억 HRT)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1417320" y="3520440"/>
            <a:ext cx="1691640" cy="685800"/>
          </a:xfrm>
          <a:prstGeom prst="rect">
            <a:avLst>
              <a:gd name="adj" fmla="val 10667"/>
            </a:avLst>
          </a:prstGeom>
          <a:solidFill>
            <a:srgbClr val="112240"/>
          </a:solidFill>
          <a:ln/>
        </p:spPr>
      </p:sp>
      <p:sp>
        <p:nvSpPr>
          <p:cNvPr id="12" name="Text 9"/>
          <p:cNvSpPr/>
          <p:nvPr/>
        </p:nvSpPr>
        <p:spPr>
          <a:xfrm>
            <a:off x="1508760" y="3593592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B347"/>
                </a:solidFill>
              </a:rPr>
              <a:t>개인 풀  20%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B347"/>
                </a:solidFill>
              </a:rPr>
              <a:t>(2억 HRT)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0" y="1188720"/>
            <a:ext cx="4206240" cy="1097280"/>
          </a:xfrm>
          <a:prstGeom prst="rect">
            <a:avLst>
              <a:gd name="adj" fmla="val 8333"/>
            </a:avLst>
          </a:prstGeom>
          <a:solidFill>
            <a:srgbClr val="112240"/>
          </a:solidFill>
          <a:ln/>
        </p:spPr>
      </p:sp>
      <p:sp>
        <p:nvSpPr>
          <p:cNvPr id="14" name="Shape 11"/>
          <p:cNvSpPr/>
          <p:nvPr/>
        </p:nvSpPr>
        <p:spPr>
          <a:xfrm>
            <a:off x="4572000" y="1188720"/>
            <a:ext cx="109728" cy="109728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5" name="Text 12"/>
          <p:cNvSpPr/>
          <p:nvPr/>
        </p:nvSpPr>
        <p:spPr>
          <a:xfrm>
            <a:off x="4754880" y="1325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🤝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5257800" y="12801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AA"/>
                </a:solidFill>
              </a:rPr>
              <a:t>50%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5943600" y="12984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단체 풀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5943600" y="162763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Partnership Pool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7680960" y="1353312"/>
            <a:ext cx="1005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가입人头 기반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임무 완료 3%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임무 발행 10%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572000" y="2423160"/>
            <a:ext cx="4206240" cy="1097280"/>
          </a:xfrm>
          <a:prstGeom prst="rect">
            <a:avLst>
              <a:gd name="adj" fmla="val 8333"/>
            </a:avLst>
          </a:prstGeom>
          <a:solidFill>
            <a:srgbClr val="112240"/>
          </a:solidFill>
          <a:ln/>
        </p:spPr>
      </p:sp>
      <p:sp>
        <p:nvSpPr>
          <p:cNvPr id="21" name="Shape 18"/>
          <p:cNvSpPr/>
          <p:nvPr/>
        </p:nvSpPr>
        <p:spPr>
          <a:xfrm>
            <a:off x="4572000" y="2423160"/>
            <a:ext cx="109728" cy="1097280"/>
          </a:xfrm>
          <a:prstGeom prst="rect">
            <a:avLst/>
          </a:prstGeom>
          <a:solidFill>
            <a:srgbClr val="FFB347"/>
          </a:solidFill>
          <a:ln/>
        </p:spPr>
      </p:sp>
      <p:sp>
        <p:nvSpPr>
          <p:cNvPr id="22" name="Text 19"/>
          <p:cNvSpPr/>
          <p:nvPr/>
        </p:nvSpPr>
        <p:spPr>
          <a:xfrm>
            <a:off x="4754880" y="2560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👤</a:t>
            </a:r>
            <a:endParaRPr lang="en-US" sz="2800" dirty="0"/>
          </a:p>
        </p:txBody>
      </p:sp>
      <p:sp>
        <p:nvSpPr>
          <p:cNvPr id="23" name="Text 20"/>
          <p:cNvSpPr/>
          <p:nvPr/>
        </p:nvSpPr>
        <p:spPr>
          <a:xfrm>
            <a:off x="5257800" y="251460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B347"/>
                </a:solidFill>
              </a:rPr>
              <a:t>20%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5943600" y="253288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개인 풀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5943600" y="286207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Individual Pool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7680960" y="2587752"/>
            <a:ext cx="1005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개인注册人头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가입 시 1회성 HRT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개인 지갑 직접 지급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572000" y="3657600"/>
            <a:ext cx="4206240" cy="1097280"/>
          </a:xfrm>
          <a:prstGeom prst="rect">
            <a:avLst>
              <a:gd name="adj" fmla="val 8333"/>
            </a:avLst>
          </a:prstGeom>
          <a:solidFill>
            <a:srgbClr val="112240"/>
          </a:solidFill>
          <a:ln/>
        </p:spPr>
      </p:sp>
      <p:sp>
        <p:nvSpPr>
          <p:cNvPr id="28" name="Shape 25"/>
          <p:cNvSpPr/>
          <p:nvPr/>
        </p:nvSpPr>
        <p:spPr>
          <a:xfrm>
            <a:off x="4572000" y="3657600"/>
            <a:ext cx="109728" cy="1097280"/>
          </a:xfrm>
          <a:prstGeom prst="rect">
            <a:avLst/>
          </a:prstGeom>
          <a:solidFill>
            <a:srgbClr val="8899AA"/>
          </a:solidFill>
          <a:ln/>
        </p:spPr>
      </p:sp>
      <p:sp>
        <p:nvSpPr>
          <p:cNvPr id="29" name="Text 26"/>
          <p:cNvSpPr/>
          <p:nvPr/>
        </p:nvSpPr>
        <p:spPr>
          <a:xfrm>
            <a:off x="4754880" y="3794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⚙️</a:t>
            </a:r>
            <a:endParaRPr lang="en-US" sz="2800" dirty="0"/>
          </a:p>
        </p:txBody>
      </p:sp>
      <p:sp>
        <p:nvSpPr>
          <p:cNvPr id="30" name="Text 27"/>
          <p:cNvSpPr/>
          <p:nvPr/>
        </p:nvSpPr>
        <p:spPr>
          <a:xfrm>
            <a:off x="5257800" y="37490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899AA"/>
                </a:solidFill>
              </a:rPr>
              <a:t>30%</a:t>
            </a:r>
            <a:endParaRPr lang="en-US" sz="2200" dirty="0"/>
          </a:p>
        </p:txBody>
      </p:sp>
      <p:sp>
        <p:nvSpPr>
          <p:cNvPr id="31" name="Text 28"/>
          <p:cNvSpPr/>
          <p:nvPr/>
        </p:nvSpPr>
        <p:spPr>
          <a:xfrm>
            <a:off x="5943600" y="376732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개발자 보유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5943600" y="409651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Developer Reserve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7680960" y="3822192"/>
            <a:ext cx="1005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플랫폼 개발·유지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기술지원·운영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지속적 개선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</a:rPr>
              <a:t>04  단체 파트너 혜택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단체가 받을 수 있는 4가지 수익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4114800" cy="1783080"/>
          </a:xfrm>
          <a:prstGeom prst="rect">
            <a:avLst>
              <a:gd name="adj" fmla="val 5128"/>
            </a:avLst>
          </a:prstGeom>
          <a:solidFill>
            <a:srgbClr val="112240"/>
          </a:solidFill>
          <a:ln/>
        </p:spPr>
      </p:sp>
      <p:sp>
        <p:nvSpPr>
          <p:cNvPr id="6" name="Shape 4"/>
          <p:cNvSpPr/>
          <p:nvPr/>
        </p:nvSpPr>
        <p:spPr>
          <a:xfrm>
            <a:off x="475488" y="1371600"/>
            <a:ext cx="685800" cy="685800"/>
          </a:xfrm>
          <a:prstGeom prst="ellipse">
            <a:avLst/>
          </a:prstGeom>
          <a:solidFill>
            <a:srgbClr val="00D4AA">
              <a:alpha val="8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490472"/>
            <a:ext cx="685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D4AA"/>
                </a:solidFill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25880" y="139903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👥  人头分配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25880" y="17830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D4AA"/>
                </a:solidFill>
              </a:rPr>
              <a:t>가입人头 HRT 기본 취득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325880" y="2075688"/>
            <a:ext cx="2926080" cy="18288"/>
          </a:xfrm>
          <a:prstGeom prst="rect">
            <a:avLst/>
          </a:prstGeom>
          <a:solidFill>
            <a:srgbClr val="1A3050"/>
          </a:solidFill>
          <a:ln/>
        </p:spPr>
      </p:sp>
      <p:sp>
        <p:nvSpPr>
          <p:cNvPr id="11" name="Text 9"/>
          <p:cNvSpPr/>
          <p:nvPr/>
        </p:nvSpPr>
        <p:spPr>
          <a:xfrm>
            <a:off x="1325880" y="2130552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회원이 가입할 때마다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해당 단체에 정액 HRT 지급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(1인당 정액 ×人头数)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상장 시점 단가 역산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09160" y="1234440"/>
            <a:ext cx="4114800" cy="1783080"/>
          </a:xfrm>
          <a:prstGeom prst="rect">
            <a:avLst>
              <a:gd name="adj" fmla="val 5128"/>
            </a:avLst>
          </a:prstGeom>
          <a:solidFill>
            <a:srgbClr val="112240"/>
          </a:solidFill>
          <a:ln/>
        </p:spPr>
      </p:sp>
      <p:sp>
        <p:nvSpPr>
          <p:cNvPr id="13" name="Shape 11"/>
          <p:cNvSpPr/>
          <p:nvPr/>
        </p:nvSpPr>
        <p:spPr>
          <a:xfrm>
            <a:off x="4818888" y="1371600"/>
            <a:ext cx="685800" cy="685800"/>
          </a:xfrm>
          <a:prstGeom prst="ellipse">
            <a:avLst/>
          </a:prstGeom>
          <a:solidFill>
            <a:srgbClr val="00A388">
              <a:alpha val="80000"/>
            </a:srgbClr>
          </a:solidFill>
          <a:ln w="12700">
            <a:solidFill>
              <a:srgbClr val="00A3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18888" y="1490472"/>
            <a:ext cx="685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A388"/>
                </a:solidFill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669280" y="139903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✅  임무완성 장려금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669280" y="17830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A388"/>
                </a:solidFill>
              </a:rPr>
              <a:t>회원이 임무 완료 시 3% 추가 HRT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669280" y="2075688"/>
            <a:ext cx="2926080" cy="18288"/>
          </a:xfrm>
          <a:prstGeom prst="rect">
            <a:avLst/>
          </a:prstGeom>
          <a:solidFill>
            <a:srgbClr val="1A3050"/>
          </a:solidFill>
          <a:ln/>
        </p:spPr>
      </p:sp>
      <p:sp>
        <p:nvSpPr>
          <p:cNvPr id="18" name="Text 16"/>
          <p:cNvSpPr/>
          <p:nvPr/>
        </p:nvSpPr>
        <p:spPr>
          <a:xfrm>
            <a:off x="5669280" y="2130552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회원이 임무를 완성하면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해당 코인의 3%를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단체 계정에 추가 충전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154680"/>
            <a:ext cx="4114800" cy="1783080"/>
          </a:xfrm>
          <a:prstGeom prst="rect">
            <a:avLst>
              <a:gd name="adj" fmla="val 5128"/>
            </a:avLst>
          </a:prstGeom>
          <a:solidFill>
            <a:srgbClr val="112240"/>
          </a:solidFill>
          <a:ln/>
        </p:spPr>
      </p:sp>
      <p:sp>
        <p:nvSpPr>
          <p:cNvPr id="20" name="Shape 18"/>
          <p:cNvSpPr/>
          <p:nvPr/>
        </p:nvSpPr>
        <p:spPr>
          <a:xfrm>
            <a:off x="475488" y="3291840"/>
            <a:ext cx="685800" cy="685800"/>
          </a:xfrm>
          <a:prstGeom prst="ellipse">
            <a:avLst/>
          </a:prstGeom>
          <a:solidFill>
            <a:srgbClr val="FFB347">
              <a:alpha val="80000"/>
            </a:srgbClr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" y="3410712"/>
            <a:ext cx="685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B347"/>
                </a:solidFill>
              </a:rPr>
              <a:t>03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25880" y="331927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📢  임무발행 장려금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25880" y="37033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B347"/>
                </a:solidFill>
              </a:rPr>
              <a:t>단체가 임무 게시 시 10% 환급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325880" y="3995928"/>
            <a:ext cx="2926080" cy="18288"/>
          </a:xfrm>
          <a:prstGeom prst="rect">
            <a:avLst/>
          </a:prstGeom>
          <a:solidFill>
            <a:srgbClr val="1A3050"/>
          </a:solidFill>
          <a:ln/>
        </p:spPr>
      </p:sp>
      <p:sp>
        <p:nvSpPr>
          <p:cNvPr id="25" name="Text 23"/>
          <p:cNvSpPr/>
          <p:nvPr/>
        </p:nvSpPr>
        <p:spPr>
          <a:xfrm>
            <a:off x="1325880" y="4050792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단체가 직접 임무를 올리면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임무 가치의 10%를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즉시 HRT로 환급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09160" y="3154680"/>
            <a:ext cx="4114800" cy="1783080"/>
          </a:xfrm>
          <a:prstGeom prst="rect">
            <a:avLst>
              <a:gd name="adj" fmla="val 5128"/>
            </a:avLst>
          </a:prstGeom>
          <a:solidFill>
            <a:srgbClr val="112240"/>
          </a:solidFill>
          <a:ln/>
        </p:spPr>
      </p:sp>
      <p:sp>
        <p:nvSpPr>
          <p:cNvPr id="27" name="Shape 25"/>
          <p:cNvSpPr/>
          <p:nvPr/>
        </p:nvSpPr>
        <p:spPr>
          <a:xfrm>
            <a:off x="4818888" y="3291840"/>
            <a:ext cx="685800" cy="685800"/>
          </a:xfrm>
          <a:prstGeom prst="ellipse">
            <a:avLst/>
          </a:prstGeom>
          <a:solidFill>
            <a:srgbClr val="FF8FAB">
              <a:alpha val="80000"/>
            </a:srgbClr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18888" y="3410712"/>
            <a:ext cx="685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8FAB"/>
                </a:solidFill>
              </a:rPr>
              <a:t>04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669280" y="331927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📊  APP 무료 제공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669280" y="37033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8FAB"/>
                </a:solidFill>
              </a:rPr>
              <a:t>파트너 단체 전용 기능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669280" y="3995928"/>
            <a:ext cx="2926080" cy="18288"/>
          </a:xfrm>
          <a:prstGeom prst="rect">
            <a:avLst/>
          </a:prstGeom>
          <a:solidFill>
            <a:srgbClr val="1A3050"/>
          </a:solidFill>
          <a:ln/>
        </p:spPr>
      </p:sp>
      <p:sp>
        <p:nvSpPr>
          <p:cNvPr id="32" name="Text 30"/>
          <p:cNvSpPr/>
          <p:nvPr/>
        </p:nvSpPr>
        <p:spPr>
          <a:xfrm>
            <a:off x="5669280" y="4050792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团体 전용 대시보드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수입·지출 분석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회원 현황 실시간 확인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</a:rPr>
              <a:t>05  유효회원 인정 &amp; 자원봉사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人头分配의 출발점 — 실명 가입 + APP 접속</a:t>
            </a:r>
            <a:endParaRPr lang="en-US" sz="2600" dirty="0"/>
          </a:p>
        </p:txBody>
      </p:sp>
      <p:pic>
        <p:nvPicPr>
          <p:cNvPr id="5" name="Image 0" descr="C:\Users\KP\.workbuddy\skills\powerpoint\imgs\volunte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143000"/>
            <a:ext cx="4023360" cy="19202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2651760"/>
            <a:ext cx="4023360" cy="41148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267919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🌿 도시 공원 환경 미화 활동</a:t>
            </a:r>
            <a:endParaRPr lang="en-US" sz="1300" dirty="0"/>
          </a:p>
        </p:txBody>
      </p:sp>
      <p:pic>
        <p:nvPicPr>
          <p:cNvPr id="8" name="Image 1" descr="C:\Users\KP\.workbuddy\skills\powerpoint\imgs\volunteer2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154680"/>
            <a:ext cx="4023360" cy="192024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65760" y="4663440"/>
            <a:ext cx="4023360" cy="411480"/>
          </a:xfrm>
          <a:prstGeom prst="rect">
            <a:avLst/>
          </a:prstGeom>
          <a:solidFill>
            <a:srgbClr val="00A388"/>
          </a:solidFill>
          <a:ln/>
        </p:spPr>
      </p:sp>
      <p:sp>
        <p:nvSpPr>
          <p:cNvPr id="10" name="Text 6"/>
          <p:cNvSpPr/>
          <p:nvPr/>
        </p:nvSpPr>
        <p:spPr>
          <a:xfrm>
            <a:off x="457200" y="469087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🤝 복지관敬老志愿服务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4663440" y="1188720"/>
            <a:ext cx="4114800" cy="822960"/>
          </a:xfrm>
          <a:prstGeom prst="rect">
            <a:avLst>
              <a:gd name="adj" fmla="val 8889"/>
            </a:avLst>
          </a:prstGeom>
          <a:solidFill>
            <a:srgbClr val="112240"/>
          </a:solidFill>
          <a:ln/>
        </p:spPr>
      </p:sp>
      <p:sp>
        <p:nvSpPr>
          <p:cNvPr id="12" name="Shape 8"/>
          <p:cNvSpPr/>
          <p:nvPr/>
        </p:nvSpPr>
        <p:spPr>
          <a:xfrm>
            <a:off x="4754880" y="1261872"/>
            <a:ext cx="658368" cy="658368"/>
          </a:xfrm>
          <a:prstGeom prst="ellipse">
            <a:avLst/>
          </a:prstGeom>
          <a:solidFill>
            <a:srgbClr val="00D4AA">
              <a:alpha val="8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754880" y="1307592"/>
            <a:ext cx="6583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📝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5577840" y="128016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회원 가입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5577840" y="16459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D4AA"/>
                </a:solidFill>
              </a:rPr>
              <a:t>실명制 注册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6583680" y="196596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D4AA"/>
                </a:solidFill>
              </a:rPr>
              <a:t>▼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4663440" y="2148840"/>
            <a:ext cx="4114800" cy="822960"/>
          </a:xfrm>
          <a:prstGeom prst="rect">
            <a:avLst>
              <a:gd name="adj" fmla="val 8889"/>
            </a:avLst>
          </a:prstGeom>
          <a:solidFill>
            <a:srgbClr val="112240"/>
          </a:solidFill>
          <a:ln/>
        </p:spPr>
      </p:sp>
      <p:sp>
        <p:nvSpPr>
          <p:cNvPr id="18" name="Shape 14"/>
          <p:cNvSpPr/>
          <p:nvPr/>
        </p:nvSpPr>
        <p:spPr>
          <a:xfrm>
            <a:off x="4754880" y="2221992"/>
            <a:ext cx="658368" cy="658368"/>
          </a:xfrm>
          <a:prstGeom prst="ellipse">
            <a:avLst/>
          </a:prstGeom>
          <a:solidFill>
            <a:srgbClr val="00D4AA">
              <a:alpha val="8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754880" y="2267712"/>
            <a:ext cx="6583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20" name="Text 16"/>
          <p:cNvSpPr/>
          <p:nvPr/>
        </p:nvSpPr>
        <p:spPr>
          <a:xfrm>
            <a:off x="5577840" y="224028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APP 접속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5577840" y="26060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D4AA"/>
                </a:solidFill>
              </a:rPr>
              <a:t>6개월内 최소 1회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6583680" y="292608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D4AA"/>
                </a:solidFill>
              </a:rPr>
              <a:t>▼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4663440" y="3108960"/>
            <a:ext cx="4114800" cy="822960"/>
          </a:xfrm>
          <a:prstGeom prst="rect">
            <a:avLst>
              <a:gd name="adj" fmla="val 8889"/>
            </a:avLst>
          </a:prstGeom>
          <a:solidFill>
            <a:srgbClr val="112240"/>
          </a:solidFill>
          <a:ln/>
        </p:spPr>
      </p:sp>
      <p:sp>
        <p:nvSpPr>
          <p:cNvPr id="24" name="Shape 20"/>
          <p:cNvSpPr/>
          <p:nvPr/>
        </p:nvSpPr>
        <p:spPr>
          <a:xfrm>
            <a:off x="4754880" y="3182112"/>
            <a:ext cx="658368" cy="658368"/>
          </a:xfrm>
          <a:prstGeom prst="ellipse">
            <a:avLst/>
          </a:prstGeom>
          <a:solidFill>
            <a:srgbClr val="00D4AA">
              <a:alpha val="8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4754880" y="3227832"/>
            <a:ext cx="6583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26" name="Text 22"/>
          <p:cNvSpPr/>
          <p:nvPr/>
        </p:nvSpPr>
        <p:spPr>
          <a:xfrm>
            <a:off x="5577840" y="320040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유효인증</a:t>
            </a:r>
            <a:endParaRPr lang="en-US" sz="1400" dirty="0"/>
          </a:p>
        </p:txBody>
      </p:sp>
      <p:sp>
        <p:nvSpPr>
          <p:cNvPr id="27" name="Text 23"/>
          <p:cNvSpPr/>
          <p:nvPr/>
        </p:nvSpPr>
        <p:spPr>
          <a:xfrm>
            <a:off x="5577840" y="35661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D4AA"/>
                </a:solidFill>
              </a:rPr>
              <a:t>블록체인 기록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6583680" y="388620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D4AA"/>
                </a:solidFill>
              </a:rPr>
              <a:t>▼</a:t>
            </a:r>
            <a:endParaRPr lang="en-US" sz="1200" dirty="0"/>
          </a:p>
        </p:txBody>
      </p:sp>
      <p:sp>
        <p:nvSpPr>
          <p:cNvPr id="29" name="Shape 25"/>
          <p:cNvSpPr/>
          <p:nvPr/>
        </p:nvSpPr>
        <p:spPr>
          <a:xfrm>
            <a:off x="4663440" y="4069080"/>
            <a:ext cx="4114800" cy="822960"/>
          </a:xfrm>
          <a:prstGeom prst="rect">
            <a:avLst>
              <a:gd name="adj" fmla="val 8889"/>
            </a:avLst>
          </a:prstGeom>
          <a:solidFill>
            <a:srgbClr val="112240"/>
          </a:solidFill>
          <a:ln/>
        </p:spPr>
      </p:sp>
      <p:sp>
        <p:nvSpPr>
          <p:cNvPr id="30" name="Shape 26"/>
          <p:cNvSpPr/>
          <p:nvPr/>
        </p:nvSpPr>
        <p:spPr>
          <a:xfrm>
            <a:off x="4754880" y="4142232"/>
            <a:ext cx="658368" cy="658368"/>
          </a:xfrm>
          <a:prstGeom prst="ellipse">
            <a:avLst/>
          </a:prstGeom>
          <a:solidFill>
            <a:srgbClr val="00D4AA">
              <a:alpha val="8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4754880" y="4187952"/>
            <a:ext cx="6583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🪙</a:t>
            </a:r>
            <a:endParaRPr lang="en-US" sz="2200" dirty="0"/>
          </a:p>
        </p:txBody>
      </p:sp>
      <p:sp>
        <p:nvSpPr>
          <p:cNvPr id="32" name="Text 28"/>
          <p:cNvSpPr/>
          <p:nvPr/>
        </p:nvSpPr>
        <p:spPr>
          <a:xfrm>
            <a:off x="5577840" y="416052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人头分配</a:t>
            </a:r>
            <a:endParaRPr lang="en-US" sz="1400" dirty="0"/>
          </a:p>
        </p:txBody>
      </p:sp>
      <p:sp>
        <p:nvSpPr>
          <p:cNvPr id="33" name="Text 29"/>
          <p:cNvSpPr/>
          <p:nvPr/>
        </p:nvSpPr>
        <p:spPr>
          <a:xfrm>
            <a:off x="5577840" y="45262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D4AA"/>
                </a:solidFill>
              </a:rPr>
              <a:t>정액 HRT 단체 지급</a:t>
            </a:r>
            <a:endParaRPr lang="en-US" sz="1100" dirty="0"/>
          </a:p>
        </p:txBody>
      </p:sp>
      <p:sp>
        <p:nvSpPr>
          <p:cNvPr id="34" name="Shape 30"/>
          <p:cNvSpPr/>
          <p:nvPr/>
        </p:nvSpPr>
        <p:spPr>
          <a:xfrm>
            <a:off x="4663440" y="4206240"/>
            <a:ext cx="4114800" cy="822960"/>
          </a:xfrm>
          <a:prstGeom prst="rect">
            <a:avLst>
              <a:gd name="adj" fmla="val 8889"/>
            </a:avLst>
          </a:prstGeom>
          <a:solidFill>
            <a:srgbClr val="FFB347">
              <a:alpha val="15000"/>
            </a:srgbClr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4754880" y="425196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B347"/>
                </a:solidFill>
              </a:rPr>
              <a:t>핵심:  임무 완성과 무관, 실명 가입 + APP 접속만으로 유효인증을 받을 수 있습니다. 단체는 "인증을 보증"해주면 됩니다.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</a:rPr>
              <a:t>06  HRT 가치 성장 모델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플랫폼 활성도 = HRT 코인가치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2011680" cy="2468880"/>
          </a:xfrm>
          <a:prstGeom prst="rect">
            <a:avLst>
              <a:gd name="adj" fmla="val 4545"/>
            </a:avLst>
          </a:prstGeom>
          <a:solidFill>
            <a:srgbClr val="112240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188720"/>
            <a:ext cx="2011680" cy="91440"/>
          </a:xfrm>
          <a:prstGeom prst="rect">
            <a:avLst/>
          </a:prstGeom>
          <a:solidFill>
            <a:srgbClr val="8899AA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3258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899AA"/>
                </a:solidFill>
              </a:rPr>
              <a:t>1단계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64592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🌱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457200" y="22860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Launch 초기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65176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HRT 가치를 직접 부여하지 않음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회원은志愿服务에 참여,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플랫폼 데이터 축적에 집중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240280" y="214884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9AA"/>
                </a:solidFill>
              </a:rPr>
              <a:t>▶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560320" y="1188720"/>
            <a:ext cx="2011680" cy="2468880"/>
          </a:xfrm>
          <a:prstGeom prst="rect">
            <a:avLst>
              <a:gd name="adj" fmla="val 4545"/>
            </a:avLst>
          </a:prstGeom>
          <a:solidFill>
            <a:srgbClr val="112240"/>
          </a:solidFill>
          <a:ln/>
        </p:spPr>
      </p:sp>
      <p:sp>
        <p:nvSpPr>
          <p:cNvPr id="13" name="Shape 11"/>
          <p:cNvSpPr/>
          <p:nvPr/>
        </p:nvSpPr>
        <p:spPr>
          <a:xfrm>
            <a:off x="2560320" y="1188720"/>
            <a:ext cx="2011680" cy="91440"/>
          </a:xfrm>
          <a:prstGeom prst="rect">
            <a:avLst/>
          </a:prstGeom>
          <a:solidFill>
            <a:srgbClr val="00A388"/>
          </a:solidFill>
          <a:ln/>
        </p:spPr>
      </p:sp>
      <p:sp>
        <p:nvSpPr>
          <p:cNvPr id="14" name="Text 12"/>
          <p:cNvSpPr/>
          <p:nvPr/>
        </p:nvSpPr>
        <p:spPr>
          <a:xfrm>
            <a:off x="2560320" y="13258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A388"/>
                </a:solidFill>
              </a:rPr>
              <a:t>2단계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560320" y="164592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🌿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2651760" y="22860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활성화 성장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651760" y="265176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회원이 많아지면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APP خدمات 충전 필요 발생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충전한 금액과 HRT 교환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434840" y="214884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A388"/>
                </a:solidFill>
              </a:rPr>
              <a:t>▶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754880" y="1188720"/>
            <a:ext cx="2011680" cy="2468880"/>
          </a:xfrm>
          <a:prstGeom prst="rect">
            <a:avLst>
              <a:gd name="adj" fmla="val 4545"/>
            </a:avLst>
          </a:prstGeom>
          <a:solidFill>
            <a:srgbClr val="112240"/>
          </a:solidFill>
          <a:ln/>
        </p:spPr>
      </p:sp>
      <p:sp>
        <p:nvSpPr>
          <p:cNvPr id="20" name="Shape 18"/>
          <p:cNvSpPr/>
          <p:nvPr/>
        </p:nvSpPr>
        <p:spPr>
          <a:xfrm>
            <a:off x="4754880" y="1188720"/>
            <a:ext cx="2011680" cy="9144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0" y="13258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AA"/>
                </a:solidFill>
              </a:rPr>
              <a:t>3단계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54880" y="164592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🌳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4846320" y="22860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生态完成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46320" y="265176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충전수수료 + 임무수수료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플랫폼 매출 발생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HRT 경제 순환 체계完成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629400" y="214884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D4AA"/>
                </a:solidFill>
              </a:rPr>
              <a:t>▶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949440" y="1188720"/>
            <a:ext cx="2011680" cy="2468880"/>
          </a:xfrm>
          <a:prstGeom prst="rect">
            <a:avLst>
              <a:gd name="adj" fmla="val 4545"/>
            </a:avLst>
          </a:prstGeom>
          <a:solidFill>
            <a:srgbClr val="112240"/>
          </a:solidFill>
          <a:ln/>
        </p:spPr>
      </p:sp>
      <p:sp>
        <p:nvSpPr>
          <p:cNvPr id="27" name="Shape 25"/>
          <p:cNvSpPr/>
          <p:nvPr/>
        </p:nvSpPr>
        <p:spPr>
          <a:xfrm>
            <a:off x="6949440" y="1188720"/>
            <a:ext cx="2011680" cy="91440"/>
          </a:xfrm>
          <a:prstGeom prst="rect">
            <a:avLst/>
          </a:prstGeom>
          <a:solidFill>
            <a:srgbClr val="FFB347"/>
          </a:solidFill>
          <a:ln/>
        </p:spPr>
      </p:sp>
      <p:sp>
        <p:nvSpPr>
          <p:cNvPr id="28" name="Text 26"/>
          <p:cNvSpPr/>
          <p:nvPr/>
        </p:nvSpPr>
        <p:spPr>
          <a:xfrm>
            <a:off x="6949440" y="13258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B347"/>
                </a:solidFill>
              </a:rPr>
              <a:t>4단계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949440" y="164592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🏆</a:t>
            </a:r>
            <a:endParaRPr lang="en-US" sz="3400" dirty="0"/>
          </a:p>
        </p:txBody>
      </p:sp>
      <p:sp>
        <p:nvSpPr>
          <p:cNvPr id="30" name="Text 28"/>
          <p:cNvSpPr/>
          <p:nvPr/>
        </p:nvSpPr>
        <p:spPr>
          <a:xfrm>
            <a:off x="7040880" y="22860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상장/유동성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040880" y="265176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거래소 상장 또는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외부 투자 유입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HRT → 현금화 가능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65760" y="3794760"/>
            <a:ext cx="2011680" cy="457200"/>
          </a:xfrm>
          <a:prstGeom prst="rect">
            <a:avLst>
              <a:gd name="adj" fmla="val 16000"/>
            </a:avLst>
          </a:prstGeom>
          <a:solidFill>
            <a:srgbClr val="1A3050"/>
          </a:solidFill>
          <a:ln/>
        </p:spPr>
      </p:sp>
      <p:sp>
        <p:nvSpPr>
          <p:cNvPr id="33" name="Text 31"/>
          <p:cNvSpPr/>
          <p:nvPr/>
        </p:nvSpPr>
        <p:spPr>
          <a:xfrm>
            <a:off x="365760" y="38404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4AA"/>
                </a:solidFill>
              </a:rPr>
              <a:t>충전 수수료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2560320" y="3794760"/>
            <a:ext cx="2011680" cy="457200"/>
          </a:xfrm>
          <a:prstGeom prst="rect">
            <a:avLst>
              <a:gd name="adj" fmla="val 16000"/>
            </a:avLst>
          </a:prstGeom>
          <a:solidFill>
            <a:srgbClr val="1A3050"/>
          </a:solidFill>
          <a:ln/>
        </p:spPr>
      </p:sp>
      <p:sp>
        <p:nvSpPr>
          <p:cNvPr id="35" name="Text 33"/>
          <p:cNvSpPr/>
          <p:nvPr/>
        </p:nvSpPr>
        <p:spPr>
          <a:xfrm>
            <a:off x="2560320" y="38404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4AA"/>
                </a:solidFill>
              </a:rPr>
              <a:t>임무 수수료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754880" y="3794760"/>
            <a:ext cx="2011680" cy="457200"/>
          </a:xfrm>
          <a:prstGeom prst="rect">
            <a:avLst>
              <a:gd name="adj" fmla="val 16000"/>
            </a:avLst>
          </a:prstGeom>
          <a:solidFill>
            <a:srgbClr val="1A3050"/>
          </a:solidFill>
          <a:ln/>
        </p:spPr>
      </p:sp>
      <p:sp>
        <p:nvSpPr>
          <p:cNvPr id="37" name="Text 35"/>
          <p:cNvSpPr/>
          <p:nvPr/>
        </p:nvSpPr>
        <p:spPr>
          <a:xfrm>
            <a:off x="4754880" y="38404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4AA"/>
                </a:solidFill>
              </a:rPr>
              <a:t>APP خدمات 충전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949440" y="3794760"/>
            <a:ext cx="2011680" cy="457200"/>
          </a:xfrm>
          <a:prstGeom prst="rect">
            <a:avLst>
              <a:gd name="adj" fmla="val 16000"/>
            </a:avLst>
          </a:prstGeom>
          <a:solidFill>
            <a:srgbClr val="1A3050"/>
          </a:solidFill>
          <a:ln/>
        </p:spPr>
      </p:sp>
      <p:sp>
        <p:nvSpPr>
          <p:cNvPr id="39" name="Text 37"/>
          <p:cNvSpPr/>
          <p:nvPr/>
        </p:nvSpPr>
        <p:spPr>
          <a:xfrm>
            <a:off x="6949440" y="38404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4AA"/>
                </a:solidFill>
              </a:rPr>
              <a:t>거래소 상장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65760" y="43891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</a:rPr>
              <a:t>※ 현 단계: HRT는 충전 매개체 역할. 향후 서비스 확대로 코인 가치가 자연스럽게 상승합니다.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</a:rPr>
              <a:t>07  계약 조건 요약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HeartChain 파트너십 계약 주요 조건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3840480"/>
        </p:xfrm>
        <a:graphic>
          <a:graphicData uri="http://schemas.openxmlformats.org/drawingml/2006/table">
            <a:tbl>
              <a:tblPr/>
              <a:tblGrid>
                <a:gridCol w="1645920"/>
                <a:gridCol w="4206240"/>
                <a:gridCol w="23774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A16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조항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A16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A16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BD5E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계약 당사자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단체 대표자 (단체명)  ×  HeartChain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4748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단체는 실명 인증会员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BD5E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단체 풀 비율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HRT 총 발행량의 50%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4748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모든 참가团体人头分配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BD5E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人头分配 단가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상장 시점 역산 (1인당 정액)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4748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시장 상황 반영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BD5E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유효회원 기준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가입 후 6개월内 APP 접속 1회+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6B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임무 완성과 무관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BD5E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임무완성 장려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회원 完成 임무 코인의 3% → 단체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4748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자동 충전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BD5E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임무발행 장려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임무 가치의 10% 즉시 HRT 환급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4748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단체가 직접 게시 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BD5E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계약 기간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3년 (자동 갱신)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4748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해지 90일 전 통지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BD5E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납세·규제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각 당사자가 관할권 내 납세 의무 부담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4748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규제 변화 시 협의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BD5E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계약 언어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한국어 / 中文 병기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B3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충돌 시 中文본 우선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</a:rPr>
              <a:t>08  미래 플랫폼 가치 시나리오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활성 회원 수 기준 플랫폼 기업 가치 환산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산정 기준: 금융투자 시장 Valuation — 1인당 기업가치(¥/Active User) 적용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2651760" cy="1005840"/>
          </a:xfrm>
          <a:prstGeom prst="rect">
            <a:avLst>
              <a:gd name="adj" fmla="val 9091"/>
            </a:avLst>
          </a:prstGeom>
          <a:solidFill>
            <a:srgbClr val="11224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53619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4AA"/>
                </a:solidFill>
              </a:rPr>
              <a:t>早期 단계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90195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B347"/>
                </a:solidFill>
              </a:rPr>
              <a:t>¥¥500/인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221284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소규모 커뮤니티 앱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91840" y="1463040"/>
            <a:ext cx="2651760" cy="1005840"/>
          </a:xfrm>
          <a:prstGeom prst="rect">
            <a:avLst>
              <a:gd name="adj" fmla="val 9091"/>
            </a:avLst>
          </a:prstGeom>
          <a:solidFill>
            <a:srgbClr val="112240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153619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4AA"/>
                </a:solidFill>
              </a:rPr>
              <a:t>성장 단계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91840" y="190195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B347"/>
                </a:solidFill>
              </a:rPr>
              <a:t>¥¥2,000/인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383280" y="221284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 aktif 100만+ 수수료 수익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26480" y="1463040"/>
            <a:ext cx="2651760" cy="1005840"/>
          </a:xfrm>
          <a:prstGeom prst="rect">
            <a:avLst>
              <a:gd name="adj" fmla="val 9091"/>
            </a:avLst>
          </a:prstGeom>
          <a:solidFill>
            <a:srgbClr val="112240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0" y="153619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4AA"/>
                </a:solidFill>
              </a:rPr>
              <a:t>성숙 단계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26480" y="190195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B347"/>
                </a:solidFill>
              </a:rPr>
              <a:t>¥¥5,000/인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217920" y="221284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글로벌 노동 플랫폼</a:t>
            </a:r>
            <a:endParaRPr lang="en-US" sz="9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606040"/>
          <a:ext cx="8229600" cy="2377440"/>
        </p:xfrm>
        <a:graphic>
          <a:graphicData uri="http://schemas.openxmlformats.org/drawingml/2006/table">
            <a:tbl>
              <a:tblPr/>
              <a:tblGrid>
                <a:gridCol w="914400"/>
                <a:gridCol w="1371600"/>
                <a:gridCol w="1280160"/>
                <a:gridCol w="1371600"/>
                <a:gridCol w="1371600"/>
                <a:gridCol w="192024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A16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A16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활성 회원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A16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1인당 가치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A16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플랫폼 총 가치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A16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단체 풀 50%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A16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예: 500명 단체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BD5E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 초기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1만 명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¥500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¥5,000만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A38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¥2,500만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A38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¥12.5만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BD5E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 성장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100만 명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¥2,000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¥20억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A38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¥10억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A38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¥50만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BD5E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 확장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1,000만 명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¥3,000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¥300억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A38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¥150억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A38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¥750만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BD5E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④ 성숙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2,000만 명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¥5,000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B3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¥1,000억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B3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¥500억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B3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¥1,500만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57200" y="50292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※ 상기 수치는 예시치이며, 실제 기업가치는 시장 상황, 수익모델, 규제 환경 등에 따라 달라질 수 있습니다.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</a:rPr>
              <a:t>09  Proof of Good Deed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HRT는 쓰레기 코인이 아닙니다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4114800" cy="1554480"/>
          </a:xfrm>
          <a:prstGeom prst="rect">
            <a:avLst>
              <a:gd name="adj" fmla="val 5882"/>
            </a:avLst>
          </a:prstGeom>
          <a:solidFill>
            <a:srgbClr val="112240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143000"/>
            <a:ext cx="4114800" cy="914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2801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</a:rPr>
              <a:t>⚡  Bitcoin PoW (비트코인)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69164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✗ 고전력 사용 (전 세계 Bitcoin ≈ 벨기에 1개국 전력)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✗ 사회적 가치가 없음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✗ 환경 비판 지속 제기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143000"/>
            <a:ext cx="4114800" cy="1554480"/>
          </a:xfrm>
          <a:prstGeom prst="rect">
            <a:avLst>
              <a:gd name="adj" fmla="val 5882"/>
            </a:avLst>
          </a:prstGeom>
          <a:solidFill>
            <a:srgbClr val="112240"/>
          </a:solidFill>
          <a:ln/>
        </p:spPr>
      </p:sp>
      <p:sp>
        <p:nvSpPr>
          <p:cNvPr id="10" name="Shape 8"/>
          <p:cNvSpPr/>
          <p:nvPr/>
        </p:nvSpPr>
        <p:spPr>
          <a:xfrm>
            <a:off x="4663440" y="1143000"/>
            <a:ext cx="4114800" cy="9144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12801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AA"/>
                </a:solidFill>
              </a:rPr>
              <a:t>💚  HeartChain PoGD (HRT)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00600" y="169164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✓ 의미 있는 노동 (자원봉사·좋은 일)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✓ 전력 낭비 없음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✓ 사회적 가치 + 경제적 보상 동시 실현</a:t>
            </a:r>
            <a:endParaRPr lang="en-US" sz="1200" dirty="0"/>
          </a:p>
        </p:txBody>
      </p:sp>
      <p:pic>
        <p:nvPicPr>
          <p:cNvPr id="13" name="Image 0" descr="C:\Users\KP\.workbuddy\skills\powerpoint\imgs\cleanCity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834640"/>
            <a:ext cx="2697480" cy="214884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365760" y="4526280"/>
            <a:ext cx="2697480" cy="4572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5" name="Text 12"/>
          <p:cNvSpPr/>
          <p:nvPr/>
        </p:nvSpPr>
        <p:spPr>
          <a:xfrm>
            <a:off x="411480" y="4544568"/>
            <a:ext cx="2606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🌍  더 살기 좋은 세상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기여가 블록체인에 투명 기록</a:t>
            </a:r>
            <a:endParaRPr lang="en-US" sz="1100" dirty="0"/>
          </a:p>
        </p:txBody>
      </p:sp>
      <p:pic>
        <p:nvPicPr>
          <p:cNvPr id="16" name="Image 1" descr="C:\Users\KP\.workbuddy\skills\powerpoint\imgs\team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2834640"/>
            <a:ext cx="2697480" cy="214884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3200400" y="4526280"/>
            <a:ext cx="2697480" cy="457200"/>
          </a:xfrm>
          <a:prstGeom prst="rect">
            <a:avLst/>
          </a:prstGeom>
          <a:solidFill>
            <a:srgbClr val="FFB347"/>
          </a:solidFill>
          <a:ln/>
        </p:spPr>
      </p:sp>
      <p:sp>
        <p:nvSpPr>
          <p:cNvPr id="18" name="Text 14"/>
          <p:cNvSpPr/>
          <p:nvPr/>
        </p:nvSpPr>
        <p:spPr>
          <a:xfrm>
            <a:off x="3246120" y="4544568"/>
            <a:ext cx="2606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💼  일자리 창출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취업난 해소와 새로운 기회</a:t>
            </a:r>
            <a:endParaRPr lang="en-US" sz="1100" dirty="0"/>
          </a:p>
        </p:txBody>
      </p:sp>
      <p:pic>
        <p:nvPicPr>
          <p:cNvPr id="19" name="Image 2" descr="C:\Users\KP\.workbuddy\skills\powerpoint\imgs\elderly2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2834640"/>
            <a:ext cx="2697480" cy="2148840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6035040" y="4526280"/>
            <a:ext cx="2697480" cy="457200"/>
          </a:xfrm>
          <a:prstGeom prst="rect">
            <a:avLst/>
          </a:prstGeom>
          <a:solidFill>
            <a:srgbClr val="FF8FAB"/>
          </a:solidFill>
          <a:ln/>
        </p:spPr>
      </p:sp>
      <p:sp>
        <p:nvSpPr>
          <p:cNvPr id="21" name="Text 16"/>
          <p:cNvSpPr/>
          <p:nvPr/>
        </p:nvSpPr>
        <p:spPr>
          <a:xfrm>
            <a:off x="6080760" y="4544568"/>
            <a:ext cx="2606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💚  "누군가 알아줍니다"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善行은 블록체인이 기억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365760" y="5047488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0D4AA"/>
                </a:solidFill>
              </a:rPr>
              <a:t>좋은 일을 한 사람은报了 — HeartChain이 기억합니다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KP\.workbuddy\skills\powerpoint\imgs\volunteer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5" name="Shape 2"/>
          <p:cNvSpPr/>
          <p:nvPr/>
        </p:nvSpPr>
        <p:spPr>
          <a:xfrm>
            <a:off x="914400" y="640080"/>
            <a:ext cx="7315200" cy="3840480"/>
          </a:xfrm>
          <a:prstGeom prst="rect">
            <a:avLst>
              <a:gd name="adj" fmla="val 4762"/>
            </a:avLst>
          </a:prstGeom>
          <a:solidFill>
            <a:srgbClr val="0A1628">
              <a:alpha val="70000"/>
            </a:srgbClr>
          </a:solidFill>
          <a:ln w="19050">
            <a:solidFill>
              <a:srgbClr val="00D4A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840480" y="868680"/>
            <a:ext cx="1463040" cy="1463040"/>
          </a:xfrm>
          <a:prstGeom prst="ellipse">
            <a:avLst/>
          </a:prstGeom>
          <a:solidFill>
            <a:srgbClr val="00D4AA">
              <a:alpha val="80000"/>
            </a:srgbClr>
          </a:solidFill>
          <a:ln w="25400">
            <a:solidFill>
              <a:srgbClr val="00D4A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0" y="128016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D4AA"/>
                </a:solidFill>
              </a:rPr>
              <a:t>HRT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914400" y="251460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HeartChain과 함께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914400" y="30632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D4AA"/>
                </a:solidFill>
              </a:rPr>
              <a:t>더 좋은 세상을 만들어 갈 파트너를 찾습니다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3017520" y="3657600"/>
            <a:ext cx="3108960" cy="594360"/>
          </a:xfrm>
          <a:prstGeom prst="rect">
            <a:avLst>
              <a:gd name="adj" fmla="val 15385"/>
            </a:avLst>
          </a:prstGeom>
          <a:solidFill>
            <a:srgbClr val="00D4AA"/>
          </a:solidFill>
          <a:ln/>
        </p:spPr>
      </p:sp>
      <p:sp>
        <p:nvSpPr>
          <p:cNvPr id="11" name="Text 8"/>
          <p:cNvSpPr/>
          <p:nvPr/>
        </p:nvSpPr>
        <p:spPr>
          <a:xfrm>
            <a:off x="3017520" y="370332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628"/>
                </a:solidFill>
              </a:rPr>
              <a:t>📩  파트너십 문의하기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914400" y="4709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联系人 / Contact:  深圳 HeartChain 기술유한책임회사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D4AA">
              <a:alpha val="50000"/>
            </a:srgbClr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HeartChain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HeartChain 파트너십 PT</dc:title>
  <dc:subject>PptxGenJS Presentation</dc:subject>
  <dc:creator>HeartChain</dc:creator>
  <cp:lastModifiedBy>HeartChain</cp:lastModifiedBy>
  <cp:revision>1</cp:revision>
  <dcterms:created xsi:type="dcterms:W3CDTF">2026-04-27T09:04:57Z</dcterms:created>
  <dcterms:modified xsi:type="dcterms:W3CDTF">2026-04-27T09:04:57Z</dcterms:modified>
</cp:coreProperties>
</file>