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개발자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899AA"/>
              </a:solidFill>
              <a:ln w="38100" cap="flat">
                <a:solidFill>
                  <a:srgbClr val="0F1923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개발자  30%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188720"/>
            <a:ext cx="45720" cy="25603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731520"/>
            <a:ext cx="1828800" cy="1828800"/>
          </a:xfrm>
          <a:prstGeom prst="ellipse">
            <a:avLst/>
          </a:prstGeom>
          <a:solidFill>
            <a:srgbClr val="00D4AA">
              <a:alpha val="88000"/>
            </a:srgbClr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3258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</a:rPr>
              <a:t>HRT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HeartChain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D4AA"/>
                </a:solidFill>
              </a:rPr>
              <a:t>哈特链  ·  블록체인志愿服务平台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5D3"/>
                </a:solidFill>
              </a:rPr>
              <a:t>파트너십 제안서   Partnership Proposal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2560320" cy="1005840"/>
          </a:xfrm>
          <a:prstGeom prst="rect">
            <a:avLst>
              <a:gd name="adj" fmla="val 13636"/>
            </a:avLst>
          </a:prstGeom>
          <a:solidFill>
            <a:srgbClr val="1E2D42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977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AA"/>
                </a:solidFill>
              </a:rPr>
              <a:t>50%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44622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단체 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Partners Pool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3931920"/>
            <a:ext cx="2560320" cy="1005840"/>
          </a:xfrm>
          <a:prstGeom prst="rect">
            <a:avLst>
              <a:gd name="adj" fmla="val 13636"/>
            </a:avLst>
          </a:prstGeom>
          <a:solidFill>
            <a:srgbClr val="1E2D42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3977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AA"/>
                </a:solidFill>
              </a:rPr>
              <a:t>10M+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91840" y="44622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목표 회원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Target Members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931920"/>
            <a:ext cx="2560320" cy="1005840"/>
          </a:xfrm>
          <a:prstGeom prst="rect">
            <a:avLst>
              <a:gd name="adj" fmla="val 13636"/>
            </a:avLst>
          </a:prstGeom>
          <a:solidFill>
            <a:srgbClr val="1E2D42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3977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AA"/>
                </a:solidFill>
              </a:rPr>
              <a:t>30%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44622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개발자 보유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Developer Share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5056632"/>
            <a:ext cx="9144000" cy="68580"/>
          </a:xfrm>
          <a:prstGeom prst="rect">
            <a:avLst/>
          </a:prstGeom>
          <a:solidFill>
            <a:srgbClr val="00D4AA">
              <a:alpha val="4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01  문제 정의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자원봉사 단체들이 직면한 현실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011680" cy="3474720"/>
          </a:xfrm>
          <a:prstGeom prst="rect">
            <a:avLst>
              <a:gd name="adj" fmla="val 681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554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📋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47"/>
                </a:solidFill>
              </a:rPr>
              <a:t>기록이 남지 않음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5D3"/>
                </a:solidFill>
              </a:rPr>
              <a:t>봉사는 했지만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5D3"/>
                </a:solidFill>
              </a:rPr>
              <a:t>근로시간·실적·기술이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5D3"/>
                </a:solidFill>
              </a:rPr>
              <a:t>아무 데도 인증되지 않음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417320"/>
            <a:ext cx="2011680" cy="3474720"/>
          </a:xfrm>
          <a:prstGeom prst="rect">
            <a:avLst>
              <a:gd name="adj" fmla="val 681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554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💸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69748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47"/>
                </a:solidFill>
              </a:rPr>
              <a:t>보상 체계 부재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29260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5D3"/>
                </a:solidFill>
              </a:rPr>
              <a:t>의무적 자원봉사는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5D3"/>
                </a:solidFill>
              </a:rPr>
              <a:t>지속하기 어렵고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5D3"/>
                </a:solidFill>
              </a:rPr>
              <a:t>전문 인력 확보 곤란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1417320"/>
            <a:ext cx="2011680" cy="3474720"/>
          </a:xfrm>
          <a:prstGeom prst="rect">
            <a:avLst>
              <a:gd name="adj" fmla="val 681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554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🔍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89204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47"/>
                </a:solidFill>
              </a:rPr>
              <a:t>사회적 인정 부족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29260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5D3"/>
                </a:solidFill>
              </a:rPr>
              <a:t>좋은 일을 해도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5D3"/>
                </a:solidFill>
              </a:rPr>
              <a:t>"아무도 몰라주고"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5D3"/>
                </a:solidFill>
              </a:rPr>
              <a:t>실질적 혜택이 없음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95160" y="1417320"/>
            <a:ext cx="2011680" cy="3474720"/>
          </a:xfrm>
          <a:prstGeom prst="rect">
            <a:avLst>
              <a:gd name="adj" fmla="val 681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95160" y="1554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🌐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708660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47"/>
                </a:solidFill>
              </a:rPr>
              <a:t>디지털 전환 늦음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86600" y="29260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5D3"/>
                </a:solidFill>
              </a:rPr>
              <a:t>새 젊은 세대는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5D3"/>
                </a:solidFill>
              </a:rPr>
              <a:t>APP·플랫폼 없이는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5D3"/>
                </a:solidFill>
              </a:rPr>
              <a:t>참여하기 어려움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4663440"/>
            <a:ext cx="8321040" cy="365760"/>
          </a:xfrm>
          <a:prstGeom prst="rect">
            <a:avLst>
              <a:gd name="adj" fmla="val 20000"/>
            </a:avLst>
          </a:prstGeom>
          <a:solidFill>
            <a:srgbClr val="FF6B6B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68172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6B6B"/>
                </a:solidFill>
              </a:rPr>
              <a:t>"봉사의 가치가 디지털 시대에 사라지고 있습니다"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02  솔루션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HeartChain이 제안하는 새로운 생태계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011680" cy="3474720"/>
          </a:xfrm>
          <a:prstGeom prst="rect">
            <a:avLst>
              <a:gd name="adj" fmla="val 681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2011680" cy="10972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00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⛓️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AA"/>
                </a:solidFill>
              </a:rPr>
              <a:t>区块链记录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▸  임무 이력 투명 저장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▸  위변조 불가능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703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▸  영구적 기여 인증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1417320"/>
            <a:ext cx="2011680" cy="3474720"/>
          </a:xfrm>
          <a:prstGeom prst="rect">
            <a:avLst>
              <a:gd name="adj" fmla="val 681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1417320"/>
            <a:ext cx="2011680" cy="109728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600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🪙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65176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347"/>
                </a:solidFill>
              </a:rPr>
              <a:t>HRT 코인 경제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97480" y="2880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▸  임무 완료 시 HRT 지급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▸  人头分配으로 단체 수익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3703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▸  플랫폼 활성도 = 코인가치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417320"/>
            <a:ext cx="2011680" cy="3474720"/>
          </a:xfrm>
          <a:prstGeom prst="rect">
            <a:avLst>
              <a:gd name="adj" fmla="val 681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417320"/>
            <a:ext cx="2011680" cy="109728"/>
          </a:xfrm>
          <a:prstGeom prst="rect">
            <a:avLst/>
          </a:prstGeom>
          <a:solidFill>
            <a:srgbClr val="00A388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600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84632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388"/>
                </a:solidFill>
              </a:rPr>
              <a:t>APP 생태계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92040" y="2880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▸  실명制 안전会员注册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▸  APP 접속으로 유효인증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3703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▸  간편한 임무 참여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417320"/>
            <a:ext cx="2011680" cy="3474720"/>
          </a:xfrm>
          <a:prstGeom prst="rect">
            <a:avLst>
              <a:gd name="adj" fmla="val 681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9440" y="1417320"/>
            <a:ext cx="2011680" cy="109728"/>
          </a:xfrm>
          <a:prstGeom prst="rect">
            <a:avLst/>
          </a:prstGeom>
          <a:solidFill>
            <a:srgbClr val="FF8FAB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1600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704088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FAB"/>
                </a:solidFill>
              </a:rPr>
              <a:t>데이터 플랫폼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086600" y="2880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▸  단체별 분석 대시보드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8660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▸  HRT 수치 한눈에 확인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86600" y="3703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▸  계약 조건 자동 준수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03  HRT 분배 구조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세 참여자에게公平한 보상 분배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25880"/>
          <a:ext cx="3931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46304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HRT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463040" y="3154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5D3"/>
                </a:solidFill>
              </a:rPr>
              <a:t>10억 개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" y="1508760"/>
            <a:ext cx="1645920" cy="685800"/>
          </a:xfrm>
          <a:prstGeom prst="rect">
            <a:avLst>
              <a:gd name="adj" fmla="val 200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158191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개발자  30%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(3억 HRT)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3154680"/>
            <a:ext cx="1645920" cy="685800"/>
          </a:xfrm>
          <a:prstGeom prst="rect">
            <a:avLst>
              <a:gd name="adj" fmla="val 200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4360" y="322783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단체 풀  50%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(5억 HRT)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463040" y="3566160"/>
            <a:ext cx="1645920" cy="685800"/>
          </a:xfrm>
          <a:prstGeom prst="rect">
            <a:avLst>
              <a:gd name="adj" fmla="val 200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554480" y="363931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개인 풀  20%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(2억 HRT)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0" y="1325880"/>
            <a:ext cx="4206240" cy="1097280"/>
          </a:xfrm>
          <a:prstGeom prst="rect">
            <a:avLst>
              <a:gd name="adj" fmla="val 125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325880"/>
            <a:ext cx="109728" cy="10972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6" name="Text 13"/>
          <p:cNvSpPr/>
          <p:nvPr/>
        </p:nvSpPr>
        <p:spPr>
          <a:xfrm>
            <a:off x="47548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257800" y="14173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</a:rPr>
              <a:t>50%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943600" y="14356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단체 풀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943600" y="1764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Partnership Pool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680960" y="14630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5D3"/>
                </a:solidFill>
              </a:rPr>
              <a:t>가입人头 기반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8C5D3"/>
                </a:solidFill>
              </a:rPr>
              <a:t>임무 완료 시 3%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8C5D3"/>
                </a:solidFill>
              </a:rPr>
              <a:t>임무 발행 시 10%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0" y="2560320"/>
            <a:ext cx="4206240" cy="1097280"/>
          </a:xfrm>
          <a:prstGeom prst="rect">
            <a:avLst>
              <a:gd name="adj" fmla="val 125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0" y="2560320"/>
            <a:ext cx="109728" cy="109728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3" name="Text 20"/>
          <p:cNvSpPr/>
          <p:nvPr/>
        </p:nvSpPr>
        <p:spPr>
          <a:xfrm>
            <a:off x="475488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5257800" y="26517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347"/>
                </a:solidFill>
              </a:rPr>
              <a:t>20%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5943600" y="26700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개인 풀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943600" y="2999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Individual Pool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680960" y="269748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5D3"/>
                </a:solidFill>
              </a:rPr>
              <a:t>개인注册人头 기반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8C5D3"/>
                </a:solidFill>
              </a:rPr>
              <a:t>가입 시 1회성 HRT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8C5D3"/>
                </a:solidFill>
              </a:rPr>
              <a:t>개인 지갑 직접 지급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0" y="3794760"/>
            <a:ext cx="4206240" cy="1097280"/>
          </a:xfrm>
          <a:prstGeom prst="rect">
            <a:avLst>
              <a:gd name="adj" fmla="val 125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72000" y="3794760"/>
            <a:ext cx="109728" cy="109728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30" name="Text 27"/>
          <p:cNvSpPr/>
          <p:nvPr/>
        </p:nvSpPr>
        <p:spPr>
          <a:xfrm>
            <a:off x="475488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5257800" y="38862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899AA"/>
                </a:solidFill>
              </a:rPr>
              <a:t>30%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5943600" y="3904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개발자 보유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5943600" y="4233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Developer Reserve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680960" y="393192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5D3"/>
                </a:solidFill>
              </a:rPr>
              <a:t>플랫폼 개발·유지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8C5D3"/>
                </a:solidFill>
              </a:rPr>
              <a:t>기술지원·운영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8C5D3"/>
                </a:solidFill>
              </a:rPr>
              <a:t>지속적 개선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04  단체 파트너 혜택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단체가 받을 수 있는 4가지 수익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1691640"/>
          </a:xfrm>
          <a:prstGeom prst="rect">
            <a:avLst>
              <a:gd name="adj" fmla="val 810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08760"/>
            <a:ext cx="685800" cy="685800"/>
          </a:xfrm>
          <a:prstGeom prst="ellipse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1848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5361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👥  人头分配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920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가입人头 HRT 기본 취득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25880" y="2212848"/>
            <a:ext cx="2926080" cy="18288"/>
          </a:xfrm>
          <a:prstGeom prst="rect">
            <a:avLst/>
          </a:prstGeom>
          <a:solidFill>
            <a:srgbClr val="1F3050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225856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회원이 가입할 때마다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해당 단체에 정액 HRT 지급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(1인당 정액 × 人头数)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상장 시점 단가 역산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371600"/>
            <a:ext cx="4114800" cy="1691640"/>
          </a:xfrm>
          <a:prstGeom prst="rect">
            <a:avLst>
              <a:gd name="adj" fmla="val 810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508760"/>
            <a:ext cx="685800" cy="685800"/>
          </a:xfrm>
          <a:prstGeom prst="ellipse">
            <a:avLst/>
          </a:prstGeom>
          <a:solidFill>
            <a:srgbClr val="00A388">
              <a:alpha val="80000"/>
            </a:srgbClr>
          </a:solidFill>
          <a:ln w="12700">
            <a:solidFill>
              <a:srgbClr val="00A3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61848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388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15361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✅  임무완성 장려금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69280" y="1920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388"/>
                </a:solidFill>
              </a:rPr>
              <a:t>회원이 임무 완료 시 3% 추가 HRT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2212848"/>
            <a:ext cx="2926080" cy="18288"/>
          </a:xfrm>
          <a:prstGeom prst="rect">
            <a:avLst/>
          </a:prstGeom>
          <a:solidFill>
            <a:srgbClr val="1F3050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225856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회원이 임무를 완성하면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해당 코인의 3%를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단체 계정에 추가 충전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임무 규모 ↑ = 수령 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4114800" cy="1691640"/>
          </a:xfrm>
          <a:prstGeom prst="rect">
            <a:avLst>
              <a:gd name="adj" fmla="val 810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337560"/>
            <a:ext cx="685800" cy="685800"/>
          </a:xfrm>
          <a:prstGeom prst="ellipse">
            <a:avLst/>
          </a:prstGeom>
          <a:solidFill>
            <a:srgbClr val="FFB347">
              <a:alpha val="80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4728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47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3649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📢  임무발행 장려금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3749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347"/>
                </a:solidFill>
              </a:rPr>
              <a:t>단체가 임무 게시 시 10% 환급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325880" y="4041648"/>
            <a:ext cx="2926080" cy="18288"/>
          </a:xfrm>
          <a:prstGeom prst="rect">
            <a:avLst/>
          </a:prstGeom>
          <a:solidFill>
            <a:srgbClr val="1F3050"/>
          </a:solidFill>
          <a:ln/>
        </p:spPr>
      </p:sp>
      <p:sp>
        <p:nvSpPr>
          <p:cNvPr id="25" name="Text 23"/>
          <p:cNvSpPr/>
          <p:nvPr/>
        </p:nvSpPr>
        <p:spPr>
          <a:xfrm>
            <a:off x="1325880" y="408736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단체가 직접 임무를 올리면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임무 가치의 10%를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즉시 HRT로 환급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참여 독려 + 의무감 부여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200400"/>
            <a:ext cx="4114800" cy="1691640"/>
          </a:xfrm>
          <a:prstGeom prst="rect">
            <a:avLst>
              <a:gd name="adj" fmla="val 810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3337560"/>
            <a:ext cx="685800" cy="685800"/>
          </a:xfrm>
          <a:prstGeom prst="ellipse">
            <a:avLst/>
          </a:prstGeom>
          <a:solidFill>
            <a:srgbClr val="FF8FAB">
              <a:alpha val="80000"/>
            </a:srgbClr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44728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FAB"/>
                </a:solidFill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69280" y="33649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📊  APP 무료 제공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69280" y="3749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FAB"/>
                </a:solidFill>
              </a:rPr>
              <a:t>파트너 단체 전용 기능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4041648"/>
            <a:ext cx="2926080" cy="18288"/>
          </a:xfrm>
          <a:prstGeom prst="rect">
            <a:avLst/>
          </a:prstGeom>
          <a:solidFill>
            <a:srgbClr val="1F3050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0" y="408736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团体 전용 대시보드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수입·지출 분석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회원 현황 실시간 확인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우선 고객 지원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05  유효회원 인정 기준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人头分配을 위한 유효회원 인증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828800" cy="2377440"/>
          </a:xfrm>
          <a:prstGeom prst="rect">
            <a:avLst>
              <a:gd name="adj" fmla="val 75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91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📝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회원 가입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실명制 注册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2606040"/>
            <a:ext cx="36576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2377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0" y="1554480"/>
            <a:ext cx="1828800" cy="2377440"/>
          </a:xfrm>
          <a:prstGeom prst="rect">
            <a:avLst>
              <a:gd name="adj" fmla="val 75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0" y="1691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834640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APP 접속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가입 후 6개월内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최소 1회 로그인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606040"/>
            <a:ext cx="36576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2377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1554480"/>
            <a:ext cx="1828800" cy="2377440"/>
          </a:xfrm>
          <a:prstGeom prst="rect">
            <a:avLst>
              <a:gd name="adj" fmla="val 75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691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✅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029200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유효인증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APP 접속 이력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블록체인에 기록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2606040"/>
            <a:ext cx="36576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2377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32320" y="1554480"/>
            <a:ext cx="1828800" cy="2377440"/>
          </a:xfrm>
          <a:prstGeom prst="rect">
            <a:avLst>
              <a:gd name="adj" fmla="val 75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32320" y="1691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🪙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223760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人头分配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23760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유효회원 1인당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정액 HRT 단체 지급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8046720" cy="822960"/>
          </a:xfrm>
          <a:prstGeom prst="rect">
            <a:avLst>
              <a:gd name="adj" fmla="val 16667"/>
            </a:avLst>
          </a:prstGeom>
          <a:solidFill>
            <a:srgbClr val="1E2D42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" y="4224528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B347"/>
                </a:solidFill>
              </a:rPr>
              <a:t>핵심:  회원이 본 프로젝트에서 완성하는 임무와는 무관, 단순히 실명 가입 + APP 접속만으로 유효인증을 받을 수 있습니다. 단체는 "인증을 보증"해주면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06  HRT 가치 성장 모델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플랫폼 활성도 = HRT 코인가치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011680" cy="2377440"/>
          </a:xfrm>
          <a:prstGeom prst="rect">
            <a:avLst>
              <a:gd name="adj" fmla="val 681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2011680" cy="9144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1단계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🌱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Launch 초기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HRT 가치를 직접 부여하지 않음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회원은志愿服务에 참여,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플랫폼 데이터 축적에 집중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40280" y="22402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60320" y="1325880"/>
            <a:ext cx="2011680" cy="2377440"/>
          </a:xfrm>
          <a:prstGeom prst="rect">
            <a:avLst>
              <a:gd name="adj" fmla="val 681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1325880"/>
            <a:ext cx="2011680" cy="91440"/>
          </a:xfrm>
          <a:prstGeom prst="rect">
            <a:avLst/>
          </a:prstGeom>
          <a:solidFill>
            <a:srgbClr val="00A388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388"/>
                </a:solidFill>
              </a:rPr>
              <a:t>2단계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1783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🌿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65176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활성화 성장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2834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회원이 많아지면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APP خدمات 충전 필요 발생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충전한 금액과 HRT 교환 시작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34840" y="22402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388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325880"/>
            <a:ext cx="2011680" cy="2377440"/>
          </a:xfrm>
          <a:prstGeom prst="rect">
            <a:avLst>
              <a:gd name="adj" fmla="val 681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325880"/>
            <a:ext cx="2011680" cy="91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3단계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1783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🌳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84632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生态完成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834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충전 수수료 + 임무수수료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플랫폼 매출 발생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HRT 경제 순환 체계完成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29400" y="22402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949440" y="1325880"/>
            <a:ext cx="2011680" cy="2377440"/>
          </a:xfrm>
          <a:prstGeom prst="rect">
            <a:avLst>
              <a:gd name="adj" fmla="val 681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9440" y="1325880"/>
            <a:ext cx="2011680" cy="9144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4단계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1783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🏆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704088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상장/유동성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40880" y="2834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거래소 상장 또는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외부 투자 유입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HRT → 현금화 가능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3840480"/>
            <a:ext cx="2011680" cy="502920"/>
          </a:xfrm>
          <a:prstGeom prst="rect">
            <a:avLst>
              <a:gd name="adj" fmla="val 27273"/>
            </a:avLst>
          </a:prstGeom>
          <a:solidFill>
            <a:srgbClr val="1F305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5760" y="3886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충전 수수료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60320" y="3840480"/>
            <a:ext cx="2011680" cy="502920"/>
          </a:xfrm>
          <a:prstGeom prst="rect">
            <a:avLst>
              <a:gd name="adj" fmla="val 27273"/>
            </a:avLst>
          </a:prstGeom>
          <a:solidFill>
            <a:srgbClr val="1F305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560320" y="3886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임무 수수료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3840480"/>
            <a:ext cx="2011680" cy="502920"/>
          </a:xfrm>
          <a:prstGeom prst="rect">
            <a:avLst>
              <a:gd name="adj" fmla="val 27273"/>
            </a:avLst>
          </a:prstGeom>
          <a:solidFill>
            <a:srgbClr val="1F305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54880" y="3886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APP خدمات 충전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49440" y="3840480"/>
            <a:ext cx="2011680" cy="502920"/>
          </a:xfrm>
          <a:prstGeom prst="rect">
            <a:avLst>
              <a:gd name="adj" fmla="val 27273"/>
            </a:avLst>
          </a:prstGeom>
          <a:solidFill>
            <a:srgbClr val="1F305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949440" y="3886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거래소 상장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899AA"/>
                </a:solidFill>
              </a:rPr>
              <a:t>※ 현 단계: HRT는 충전 매개체 역할. 향후 서비스 확대로 코인 가치가 자연스럽게 상승합니다.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07  계약 조건 요약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HeartChain 파트너십 계약 주요 조건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657600"/>
        </p:xfrm>
        <a:graphic>
          <a:graphicData uri="http://schemas.openxmlformats.org/drawingml/2006/table">
            <a:tbl>
              <a:tblPr/>
              <a:tblGrid>
                <a:gridCol w="1645920"/>
                <a:gridCol w="420624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9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9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9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당사자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团体 대표자 (단체명)  ×  HeartChain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단체는 실명 인증会员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 풀 비율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HRT 총 발행량의 50%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참가团体人头分配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人头分配 단가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상장 시점 역산 (1인당 정액)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시장 상황 반영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유효회원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후 6개월内 APP 접속 1회+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임무 완성과 무관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임무완성 장려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完成 임무 코인의 3% → 단체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임무발행 장려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임무 가치의 10% 즉시 HRT 환급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단체가 직접 게시 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기간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3년 (자동 갱신)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해지 90일 전 통지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납세·규제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당사자가 관할권 내 납세 의무 부담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규제 변화 시 협의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언어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/ 中文 병기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B3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충돌 시 中文본 우선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08  미래 플랫폼 가치 시나리오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활성 회원 수 기준 플랫폼 기업 가치 환산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산정 기준: 금융투자 시장 Valuation 방식 — 1인당 기업가치(€/Active User) 적용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51760" cy="1051560"/>
          </a:xfrm>
          <a:prstGeom prst="rect">
            <a:avLst>
              <a:gd name="adj" fmla="val 13043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64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早期 단계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Early Stage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47"/>
                </a:solidFill>
              </a:rPr>
              <a:t>¥¥500/인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3591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소규모 커뮤니티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앱 초기 사용자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600200"/>
            <a:ext cx="2651760" cy="1051560"/>
          </a:xfrm>
          <a:prstGeom prst="rect">
            <a:avLst>
              <a:gd name="adj" fmla="val 13043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664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성장 단계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Growth Stage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0299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47"/>
                </a:solidFill>
              </a:rPr>
              <a:t>¥¥2,000/인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23591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 aktif 100만+ 플랫폼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수수료 수익 발생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600200"/>
            <a:ext cx="2651760" cy="1051560"/>
          </a:xfrm>
          <a:prstGeom prst="rect">
            <a:avLst>
              <a:gd name="adj" fmla="val 13043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664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성숙 단계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Mature Stage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0299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47"/>
                </a:solidFill>
              </a:rPr>
              <a:t>¥¥5,000/인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23591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글로벌 노동 플랫폼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상장 준비 기업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8229600" cy="214884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371600"/>
                <a:gridCol w="1371600"/>
                <a:gridCol w="1371600"/>
                <a:gridCol w="182880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9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9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 회원 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9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1인당 기업가치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9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 총 가치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9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 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9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(50%)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9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예시: 500명 단체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9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지분 가치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초기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1만 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¥5,000만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¥2,500만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¥12.5만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(¥125K)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성장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100만 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¥2,000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¥20억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(¥500K)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확장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1,000만 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¥3,000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¥300억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¥150억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¥750만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(¥7.5M)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성숙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2,000만 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¥5,000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3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¥1,000억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3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¥500억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3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¥1,500만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3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(¥15M)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4983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</a:rPr>
              <a:t>※ 상기 수치는 예시치이며, 실제 기업가치는 시장 상황, 수익모델, 규제 환경 등에 따라 달라질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09  Proof of Good Deed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HRT는 쓰레기 코인이 아닙니다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77640" cy="1554480"/>
          </a:xfrm>
          <a:prstGeom prst="rect">
            <a:avLst>
              <a:gd name="adj" fmla="val 8824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3977640" cy="9144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444"/>
                </a:solidFill>
              </a:rPr>
              <a:t>⚡  Bitcoin PoW (비트코인)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666"/>
                </a:solidFill>
              </a:rPr>
              <a:t>✓ 고전력 사용 (전 세계 Bitcoin 채굴 ≈ 벨기에 1개국 전력)
</a:t>
            </a:r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✗ 사회적 가치가 없음
</a:t>
            </a:r>
            <a:pPr indent="0" marL="0">
              <a:buNone/>
            </a:pPr>
            <a:r>
              <a:rPr lang="en-US" sz="1200" dirty="0">
                <a:solidFill>
                  <a:srgbClr val="FF6666"/>
                </a:solidFill>
              </a:rPr>
              <a:t>✗ 환경 비판 지속 제기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1554480"/>
          </a:xfrm>
          <a:prstGeom prst="rect">
            <a:avLst>
              <a:gd name="adj" fmla="val 8824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25880"/>
            <a:ext cx="3977640" cy="91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💚  HeartChain PoGD (HRT)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✓ 의미 있는 노동 (자원봉사·좋은 일)
</a:t>
            </a:r>
            <a:pPr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✓ 전력 낭비 없음
</a:t>
            </a:r>
            <a:pPr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✓ 사회적 가치 + 경제적 보상 동시 실현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2651760" cy="1828800"/>
          </a:xfrm>
          <a:prstGeom prst="rect">
            <a:avLst>
              <a:gd name="adj" fmla="val 75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63240"/>
            <a:ext cx="265176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004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🌍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48640" y="38221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더 살기 좋은 세상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기여가 블록체인에 투명하게 기록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노력이 사라지지 않는 세계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지역사회에 lasting한 가치 창출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91840" y="3063240"/>
            <a:ext cx="2651760" cy="1828800"/>
          </a:xfrm>
          <a:prstGeom prst="rect">
            <a:avLst>
              <a:gd name="adj" fmla="val 75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3063240"/>
            <a:ext cx="2651760" cy="73152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32004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💼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383280" y="38221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47"/>
                </a:solidFill>
              </a:rPr>
              <a:t>일자리 창출 &amp; 취업난 해소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4206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취업 어려운 젊은이, 경력 단절 여성,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외로운 노년층에게 새 기회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단순 임무 → 전문 임무로 성장 가능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3063240"/>
            <a:ext cx="2651760" cy="1828800"/>
          </a:xfrm>
          <a:prstGeom prst="rect">
            <a:avLst>
              <a:gd name="adj" fmla="val 75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3063240"/>
            <a:ext cx="2651760" cy="73152"/>
          </a:xfrm>
          <a:prstGeom prst="rect">
            <a:avLst/>
          </a:prstGeom>
          <a:solidFill>
            <a:srgbClr val="FF8FAB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32004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💚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217920" y="38221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FAB"/>
                </a:solidFill>
              </a:rPr>
              <a:t>"누군가 알아줍니다"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4206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바로 현금화되지 않아도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블록체인은 당신의 善行을 기억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명예로운 노동자 =名誉劳动者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956048"/>
            <a:ext cx="8229600" cy="54864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D4AA"/>
                </a:solidFill>
              </a:rPr>
              <a:t>좋은 일을 한 사람은报了 — HeartChain이 기억합니다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731520"/>
            <a:ext cx="7315200" cy="3840480"/>
          </a:xfrm>
          <a:prstGeom prst="rect">
            <a:avLst>
              <a:gd name="adj" fmla="val 3571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840480" y="914400"/>
            <a:ext cx="1463040" cy="1463040"/>
          </a:xfrm>
          <a:prstGeom prst="ellipse">
            <a:avLst/>
          </a:prstGeom>
          <a:solidFill>
            <a:srgbClr val="00D4AA">
              <a:alpha val="85000"/>
            </a:srgbClr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13258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HRT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HeartChain과 함께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</a:rPr>
              <a:t>더 좋은 세상을 만들어 갈 파트너를 찾습니다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17520" y="3657600"/>
            <a:ext cx="3108960" cy="594360"/>
          </a:xfrm>
          <a:prstGeom prst="rect">
            <a:avLst>
              <a:gd name="adj" fmla="val 23077"/>
            </a:avLst>
          </a:prstGeom>
          <a:solidFill>
            <a:srgbClr val="00D4AA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37033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923"/>
                </a:solidFill>
              </a:rPr>
              <a:t>📩  파트너십 문의하기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联系人 / Contact:  深圳 HeartChain 기술유한책임회사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5056632"/>
            <a:ext cx="9144000" cy="68580"/>
          </a:xfrm>
          <a:prstGeom prst="rect">
            <a:avLst/>
          </a:prstGeom>
          <a:solidFill>
            <a:srgbClr val="00D4AA">
              <a:alpha val="4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HeartChain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HeartChain 파트너십 PT</dc:title>
  <dc:subject>HeartChain 파트너십 PT</dc:subject>
  <dc:creator>HeartChain</dc:creator>
  <cp:lastModifiedBy>HeartChain</cp:lastModifiedBy>
  <cp:revision>1</cp:revision>
  <dcterms:created xsi:type="dcterms:W3CDTF">2026-04-27T08:43:25Z</dcterms:created>
  <dcterms:modified xsi:type="dcterms:W3CDTF">2026-04-27T08:43:25Z</dcterms:modified>
</cp:coreProperties>
</file>